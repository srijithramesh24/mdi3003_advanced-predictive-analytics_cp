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5" d="100"/>
          <a:sy n="145" d="100"/>
        </p:scale>
        <p:origin x="556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91903C-91AD-4B90-AF6C-77FD99B9C47F}" type="datetimeFigureOut">
              <a:rPr lang="en-IN" smtClean="0"/>
              <a:t>29-10-2026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EC87D-A580-4F53-A765-F6B142257D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744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EC87D-A580-4F53-A765-F6B142257D29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825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7324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637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24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2637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24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24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77442"/>
            <a:ext cx="303530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7324C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294" y="602761"/>
            <a:ext cx="4225290" cy="143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263746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4521" y="3096974"/>
            <a:ext cx="2252345" cy="15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29763" y="3096974"/>
            <a:ext cx="311785" cy="155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rgbClr val="637280"/>
                </a:solidFill>
                <a:latin typeface="Arial"/>
                <a:cs typeface="Arial"/>
              </a:defRPr>
            </a:lvl1pPr>
          </a:lstStyle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2" Type="http://schemas.openxmlformats.org/officeDocument/2006/relationships/hyperlink" Target="https://github.com/SYSTRAN/faster-whisp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0" y="3240041"/>
                </a:moveTo>
                <a:lnTo>
                  <a:pt x="0" y="0"/>
                </a:lnTo>
                <a:lnTo>
                  <a:pt x="5760073" y="0"/>
                </a:lnTo>
                <a:lnTo>
                  <a:pt x="5760073" y="3240041"/>
                </a:lnTo>
                <a:lnTo>
                  <a:pt x="0" y="3240041"/>
                </a:lnTo>
                <a:close/>
              </a:path>
            </a:pathLst>
          </a:custGeom>
          <a:solidFill>
            <a:srgbClr val="17324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9470" y="153807"/>
            <a:ext cx="14503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95" dirty="0">
                <a:solidFill>
                  <a:srgbClr val="289B91"/>
                </a:solidFill>
                <a:latin typeface="Arial Black"/>
                <a:cs typeface="Arial Black"/>
              </a:rPr>
              <a:t>COURSE</a:t>
            </a:r>
            <a:r>
              <a:rPr sz="1200" spc="20" dirty="0">
                <a:solidFill>
                  <a:srgbClr val="289B91"/>
                </a:solidFill>
                <a:latin typeface="Arial Black"/>
                <a:cs typeface="Arial Black"/>
              </a:rPr>
              <a:t> </a:t>
            </a:r>
            <a:r>
              <a:rPr sz="1200" spc="-70" dirty="0">
                <a:solidFill>
                  <a:srgbClr val="289B91"/>
                </a:solidFill>
                <a:latin typeface="Arial Black"/>
                <a:cs typeface="Arial Black"/>
              </a:rPr>
              <a:t>PROJECT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47294" y="584071"/>
            <a:ext cx="2002206" cy="39305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spc="-270">
                <a:solidFill>
                  <a:srgbClr val="FFFFFF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Evidence</a:t>
            </a:r>
            <a:r>
              <a:rPr lang="en-IN" sz="2450" spc="-270">
                <a:solidFill>
                  <a:srgbClr val="FFFFFF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 </a:t>
            </a:r>
            <a:r>
              <a:rPr sz="2450" spc="-270">
                <a:solidFill>
                  <a:srgbClr val="FFFFFF"/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QA</a:t>
            </a:r>
            <a:endParaRPr sz="2450"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294" y="1072372"/>
            <a:ext cx="4072890" cy="4191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 marR="5080">
              <a:lnSpc>
                <a:spcPts val="1370"/>
              </a:lnSpc>
              <a:spcBef>
                <a:spcPts val="434"/>
              </a:spcBef>
            </a:pP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Evidence-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Grounded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Lecture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Video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Tahoma"/>
                <a:cs typeface="Tahoma"/>
              </a:rPr>
              <a:t>Answering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Timestamp-</a:t>
            </a:r>
            <a:r>
              <a:rPr sz="1400" spc="-30" dirty="0">
                <a:solidFill>
                  <a:srgbClr val="FFFFFF"/>
                </a:solidFill>
                <a:latin typeface="Tahoma"/>
                <a:cs typeface="Tahoma"/>
              </a:rPr>
              <a:t>Level</a:t>
            </a:r>
            <a:r>
              <a:rPr sz="14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Tahoma"/>
                <a:cs typeface="Tahoma"/>
              </a:rPr>
              <a:t>Support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7294" y="1762434"/>
            <a:ext cx="2355215" cy="629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5500" algn="l"/>
                <a:tab pos="1029335" algn="l"/>
              </a:tabLst>
            </a:pPr>
            <a:r>
              <a:rPr sz="1000" spc="-70" dirty="0">
                <a:solidFill>
                  <a:srgbClr val="FFFFFF"/>
                </a:solidFill>
                <a:latin typeface="Arial Black"/>
                <a:cs typeface="Arial Black"/>
              </a:rPr>
              <a:t>SRIJITH</a:t>
            </a:r>
            <a:r>
              <a:rPr sz="1000" spc="2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Arial Black"/>
                <a:cs typeface="Arial Black"/>
              </a:rPr>
              <a:t>R</a:t>
            </a:r>
            <a:r>
              <a:rPr sz="1000" dirty="0">
                <a:solidFill>
                  <a:srgbClr val="FFFFFF"/>
                </a:solidFill>
                <a:latin typeface="Arial Black"/>
                <a:cs typeface="Arial Black"/>
              </a:rPr>
              <a:t>	</a:t>
            </a:r>
            <a:r>
              <a:rPr sz="1000" spc="-50" dirty="0">
                <a:solidFill>
                  <a:srgbClr val="FFFFFF"/>
                </a:solidFill>
                <a:latin typeface="Tahoma"/>
                <a:cs typeface="Tahoma"/>
              </a:rPr>
              <a:t>|</a:t>
            </a:r>
            <a:r>
              <a:rPr sz="1000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24MID0009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10700"/>
              </a:lnSpc>
              <a:spcBef>
                <a:spcPts val="117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guidance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sz="90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DURGESH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KUMAR Assistant</a:t>
            </a: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 Sr.</a:t>
            </a:r>
            <a:r>
              <a:rPr sz="900" spc="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Grade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7294" y="2604913"/>
            <a:ext cx="2091689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MDI3003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–</a:t>
            </a: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FFFFFF"/>
                </a:solidFill>
                <a:latin typeface="Arial"/>
                <a:cs typeface="Arial"/>
              </a:rPr>
              <a:t>Advanced</a:t>
            </a:r>
            <a:r>
              <a:rPr sz="9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Predictive Analytics Theory</a:t>
            </a:r>
            <a:r>
              <a:rPr sz="9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FFFFFF"/>
                </a:solidFill>
                <a:latin typeface="Arial"/>
                <a:cs typeface="Arial"/>
              </a:rPr>
              <a:t>Course</a:t>
            </a:r>
            <a:r>
              <a:rPr sz="9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096031" y="1836015"/>
            <a:ext cx="2664460" cy="1404620"/>
            <a:chOff x="3096031" y="1836015"/>
            <a:chExt cx="2664460" cy="1404620"/>
          </a:xfrm>
        </p:grpSpPr>
        <p:sp>
          <p:nvSpPr>
            <p:cNvPr id="4" name="object 4"/>
            <p:cNvSpPr/>
            <p:nvPr/>
          </p:nvSpPr>
          <p:spPr>
            <a:xfrm>
              <a:off x="3672035" y="2213132"/>
              <a:ext cx="2088514" cy="1027430"/>
            </a:xfrm>
            <a:custGeom>
              <a:avLst/>
              <a:gdLst/>
              <a:ahLst/>
              <a:cxnLst/>
              <a:rect l="l" t="t" r="r" b="b"/>
              <a:pathLst>
                <a:path w="2088514" h="1027430">
                  <a:moveTo>
                    <a:pt x="2088027" y="0"/>
                  </a:moveTo>
                  <a:lnTo>
                    <a:pt x="0" y="1026898"/>
                  </a:lnTo>
                  <a:lnTo>
                    <a:pt x="2088027" y="1026898"/>
                  </a:lnTo>
                  <a:lnTo>
                    <a:pt x="2088027" y="0"/>
                  </a:lnTo>
                  <a:close/>
                </a:path>
              </a:pathLst>
            </a:custGeom>
            <a:solidFill>
              <a:srgbClr val="3578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096031" y="1836015"/>
              <a:ext cx="1944370" cy="1403985"/>
            </a:xfrm>
            <a:custGeom>
              <a:avLst/>
              <a:gdLst/>
              <a:ahLst/>
              <a:cxnLst/>
              <a:rect l="l" t="t" r="r" b="b"/>
              <a:pathLst>
                <a:path w="1944370" h="1403985">
                  <a:moveTo>
                    <a:pt x="972011" y="0"/>
                  </a:moveTo>
                  <a:lnTo>
                    <a:pt x="923497" y="1189"/>
                  </a:lnTo>
                  <a:lnTo>
                    <a:pt x="875599" y="4721"/>
                  </a:lnTo>
                  <a:lnTo>
                    <a:pt x="828372" y="10538"/>
                  </a:lnTo>
                  <a:lnTo>
                    <a:pt x="781873" y="18587"/>
                  </a:lnTo>
                  <a:lnTo>
                    <a:pt x="736157" y="28810"/>
                  </a:lnTo>
                  <a:lnTo>
                    <a:pt x="691279" y="41153"/>
                  </a:lnTo>
                  <a:lnTo>
                    <a:pt x="647295" y="55559"/>
                  </a:lnTo>
                  <a:lnTo>
                    <a:pt x="604261" y="71973"/>
                  </a:lnTo>
                  <a:lnTo>
                    <a:pt x="562232" y="90340"/>
                  </a:lnTo>
                  <a:lnTo>
                    <a:pt x="521265" y="110602"/>
                  </a:lnTo>
                  <a:lnTo>
                    <a:pt x="481415" y="132706"/>
                  </a:lnTo>
                  <a:lnTo>
                    <a:pt x="442737" y="156595"/>
                  </a:lnTo>
                  <a:lnTo>
                    <a:pt x="405288" y="182213"/>
                  </a:lnTo>
                  <a:lnTo>
                    <a:pt x="369123" y="209505"/>
                  </a:lnTo>
                  <a:lnTo>
                    <a:pt x="334297" y="238415"/>
                  </a:lnTo>
                  <a:lnTo>
                    <a:pt x="300867" y="268888"/>
                  </a:lnTo>
                  <a:lnTo>
                    <a:pt x="268888" y="300867"/>
                  </a:lnTo>
                  <a:lnTo>
                    <a:pt x="238415" y="334297"/>
                  </a:lnTo>
                  <a:lnTo>
                    <a:pt x="209505" y="369123"/>
                  </a:lnTo>
                  <a:lnTo>
                    <a:pt x="182213" y="405288"/>
                  </a:lnTo>
                  <a:lnTo>
                    <a:pt x="156595" y="442737"/>
                  </a:lnTo>
                  <a:lnTo>
                    <a:pt x="132706" y="481415"/>
                  </a:lnTo>
                  <a:lnTo>
                    <a:pt x="110602" y="521265"/>
                  </a:lnTo>
                  <a:lnTo>
                    <a:pt x="90340" y="562232"/>
                  </a:lnTo>
                  <a:lnTo>
                    <a:pt x="71973" y="604261"/>
                  </a:lnTo>
                  <a:lnTo>
                    <a:pt x="55559" y="647295"/>
                  </a:lnTo>
                  <a:lnTo>
                    <a:pt x="41153" y="691279"/>
                  </a:lnTo>
                  <a:lnTo>
                    <a:pt x="28810" y="736157"/>
                  </a:lnTo>
                  <a:lnTo>
                    <a:pt x="18587" y="781873"/>
                  </a:lnTo>
                  <a:lnTo>
                    <a:pt x="10538" y="828373"/>
                  </a:lnTo>
                  <a:lnTo>
                    <a:pt x="4721" y="875599"/>
                  </a:lnTo>
                  <a:lnTo>
                    <a:pt x="1189" y="923497"/>
                  </a:lnTo>
                  <a:lnTo>
                    <a:pt x="0" y="972011"/>
                  </a:lnTo>
                  <a:lnTo>
                    <a:pt x="1189" y="1020525"/>
                  </a:lnTo>
                  <a:lnTo>
                    <a:pt x="4721" y="1068422"/>
                  </a:lnTo>
                  <a:lnTo>
                    <a:pt x="10538" y="1115649"/>
                  </a:lnTo>
                  <a:lnTo>
                    <a:pt x="18587" y="1162148"/>
                  </a:lnTo>
                  <a:lnTo>
                    <a:pt x="28810" y="1207865"/>
                  </a:lnTo>
                  <a:lnTo>
                    <a:pt x="41153" y="1252743"/>
                  </a:lnTo>
                  <a:lnTo>
                    <a:pt x="55559" y="1296727"/>
                  </a:lnTo>
                  <a:lnTo>
                    <a:pt x="71973" y="1339761"/>
                  </a:lnTo>
                  <a:lnTo>
                    <a:pt x="90340" y="1381789"/>
                  </a:lnTo>
                  <a:lnTo>
                    <a:pt x="101317" y="1403983"/>
                  </a:lnTo>
                  <a:lnTo>
                    <a:pt x="1842705" y="1403983"/>
                  </a:lnTo>
                  <a:lnTo>
                    <a:pt x="1872048" y="1339761"/>
                  </a:lnTo>
                  <a:lnTo>
                    <a:pt x="1888462" y="1296727"/>
                  </a:lnTo>
                  <a:lnTo>
                    <a:pt x="1902868" y="1252743"/>
                  </a:lnTo>
                  <a:lnTo>
                    <a:pt x="1915211" y="1207865"/>
                  </a:lnTo>
                  <a:lnTo>
                    <a:pt x="1925434" y="1162148"/>
                  </a:lnTo>
                  <a:lnTo>
                    <a:pt x="1933483" y="1115649"/>
                  </a:lnTo>
                  <a:lnTo>
                    <a:pt x="1939301" y="1068422"/>
                  </a:lnTo>
                  <a:lnTo>
                    <a:pt x="1942832" y="1020525"/>
                  </a:lnTo>
                  <a:lnTo>
                    <a:pt x="1944022" y="972011"/>
                  </a:lnTo>
                  <a:lnTo>
                    <a:pt x="1942832" y="923497"/>
                  </a:lnTo>
                  <a:lnTo>
                    <a:pt x="1939301" y="875599"/>
                  </a:lnTo>
                  <a:lnTo>
                    <a:pt x="1933483" y="828373"/>
                  </a:lnTo>
                  <a:lnTo>
                    <a:pt x="1925434" y="781873"/>
                  </a:lnTo>
                  <a:lnTo>
                    <a:pt x="1915211" y="736157"/>
                  </a:lnTo>
                  <a:lnTo>
                    <a:pt x="1902868" y="691279"/>
                  </a:lnTo>
                  <a:lnTo>
                    <a:pt x="1888462" y="647295"/>
                  </a:lnTo>
                  <a:lnTo>
                    <a:pt x="1872048" y="604261"/>
                  </a:lnTo>
                  <a:lnTo>
                    <a:pt x="1853682" y="562232"/>
                  </a:lnTo>
                  <a:lnTo>
                    <a:pt x="1833419" y="521265"/>
                  </a:lnTo>
                  <a:lnTo>
                    <a:pt x="1811315" y="481415"/>
                  </a:lnTo>
                  <a:lnTo>
                    <a:pt x="1787427" y="442737"/>
                  </a:lnTo>
                  <a:lnTo>
                    <a:pt x="1761808" y="405288"/>
                  </a:lnTo>
                  <a:lnTo>
                    <a:pt x="1734516" y="369123"/>
                  </a:lnTo>
                  <a:lnTo>
                    <a:pt x="1705606" y="334297"/>
                  </a:lnTo>
                  <a:lnTo>
                    <a:pt x="1675134" y="300867"/>
                  </a:lnTo>
                  <a:lnTo>
                    <a:pt x="1643154" y="268888"/>
                  </a:lnTo>
                  <a:lnTo>
                    <a:pt x="1609724" y="238415"/>
                  </a:lnTo>
                  <a:lnTo>
                    <a:pt x="1574899" y="209505"/>
                  </a:lnTo>
                  <a:lnTo>
                    <a:pt x="1538733" y="182213"/>
                  </a:lnTo>
                  <a:lnTo>
                    <a:pt x="1501284" y="156595"/>
                  </a:lnTo>
                  <a:lnTo>
                    <a:pt x="1462606" y="132706"/>
                  </a:lnTo>
                  <a:lnTo>
                    <a:pt x="1422756" y="110602"/>
                  </a:lnTo>
                  <a:lnTo>
                    <a:pt x="1381789" y="90340"/>
                  </a:lnTo>
                  <a:lnTo>
                    <a:pt x="1339761" y="71973"/>
                  </a:lnTo>
                  <a:lnTo>
                    <a:pt x="1296727" y="55559"/>
                  </a:lnTo>
                  <a:lnTo>
                    <a:pt x="1252743" y="41153"/>
                  </a:lnTo>
                  <a:lnTo>
                    <a:pt x="1207865" y="28810"/>
                  </a:lnTo>
                  <a:lnTo>
                    <a:pt x="1162148" y="18587"/>
                  </a:lnTo>
                  <a:lnTo>
                    <a:pt x="1115649" y="10538"/>
                  </a:lnTo>
                  <a:lnTo>
                    <a:pt x="1068422" y="4721"/>
                  </a:lnTo>
                  <a:lnTo>
                    <a:pt x="1020524" y="1189"/>
                  </a:lnTo>
                  <a:lnTo>
                    <a:pt x="972011" y="0"/>
                  </a:lnTo>
                  <a:close/>
                </a:path>
              </a:pathLst>
            </a:custGeom>
            <a:solidFill>
              <a:srgbClr val="289B91">
                <a:alpha val="54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559300" y="2771922"/>
            <a:ext cx="129540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900" spc="-10">
                <a:solidFill>
                  <a:srgbClr val="FFFFFF"/>
                </a:solidFill>
                <a:latin typeface="Arial"/>
                <a:cs typeface="Arial"/>
              </a:rPr>
              <a:t>03</a:t>
            </a:r>
            <a:r>
              <a:rPr lang="en-IN" sz="900" spc="-10" baseline="30000">
                <a:solidFill>
                  <a:srgbClr val="FFFFFF"/>
                </a:solidFill>
                <a:latin typeface="Arial"/>
                <a:cs typeface="Arial"/>
              </a:rPr>
              <a:t>rd</a:t>
            </a:r>
            <a:r>
              <a:rPr lang="en-IN" sz="900" spc="-10">
                <a:solidFill>
                  <a:srgbClr val="FFFFFF"/>
                </a:solidFill>
                <a:latin typeface="Arial"/>
                <a:cs typeface="Arial"/>
              </a:rPr>
              <a:t> November </a:t>
            </a:r>
            <a:r>
              <a:rPr sz="900" spc="-25">
                <a:solidFill>
                  <a:srgbClr val="FFFFFF"/>
                </a:solidFill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9194" y="77442"/>
            <a:ext cx="2886075" cy="27927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17324C"/>
                </a:solidFill>
                <a:latin typeface="Tahoma"/>
                <a:cs typeface="Tahoma"/>
              </a:rPr>
              <a:t>Why</a:t>
            </a:r>
            <a:r>
              <a:rPr sz="1400" spc="-70" dirty="0">
                <a:solidFill>
                  <a:srgbClr val="17324C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17324C"/>
                </a:solidFill>
                <a:latin typeface="Tahoma"/>
                <a:cs typeface="Tahoma"/>
              </a:rPr>
              <a:t>this</a:t>
            </a:r>
            <a:r>
              <a:rPr sz="1400" spc="-70" dirty="0">
                <a:solidFill>
                  <a:srgbClr val="17324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17324C"/>
                </a:solidFill>
                <a:latin typeface="Tahoma"/>
                <a:cs typeface="Tahoma"/>
              </a:rPr>
              <a:t>project?</a:t>
            </a:r>
            <a:endParaRPr sz="1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1400">
              <a:latin typeface="Tahoma"/>
              <a:cs typeface="Tahoma"/>
            </a:endParaRPr>
          </a:p>
          <a:p>
            <a:pPr marL="50800" marR="43180">
              <a:lnSpc>
                <a:spcPct val="106700"/>
              </a:lnSpc>
              <a:spcBef>
                <a:spcPts val="5"/>
              </a:spcBef>
            </a:pPr>
            <a:r>
              <a:rPr sz="1400" b="1" spc="-114" dirty="0">
                <a:solidFill>
                  <a:srgbClr val="263746"/>
                </a:solidFill>
                <a:latin typeface="Arial Black"/>
                <a:cs typeface="Arial Black"/>
              </a:rPr>
              <a:t>Finding</a:t>
            </a:r>
            <a:r>
              <a:rPr sz="1400" b="1" spc="1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70" dirty="0">
                <a:solidFill>
                  <a:srgbClr val="263746"/>
                </a:solidFill>
                <a:latin typeface="Arial Black"/>
                <a:cs typeface="Arial Black"/>
              </a:rPr>
              <a:t>one</a:t>
            </a:r>
            <a:r>
              <a:rPr sz="1400" b="1" spc="5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50" dirty="0">
                <a:solidFill>
                  <a:srgbClr val="263746"/>
                </a:solidFill>
                <a:latin typeface="Arial Black"/>
                <a:cs typeface="Arial Black"/>
              </a:rPr>
              <a:t>explanation</a:t>
            </a:r>
            <a:r>
              <a:rPr sz="1400" b="1" spc="4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75" dirty="0">
                <a:solidFill>
                  <a:srgbClr val="263746"/>
                </a:solidFill>
                <a:latin typeface="Arial Black"/>
                <a:cs typeface="Arial Black"/>
              </a:rPr>
              <a:t>in</a:t>
            </a:r>
            <a:r>
              <a:rPr sz="1400" b="1" spc="4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90" dirty="0">
                <a:solidFill>
                  <a:srgbClr val="263746"/>
                </a:solidFill>
                <a:latin typeface="Arial Black"/>
                <a:cs typeface="Arial Black"/>
              </a:rPr>
              <a:t>a</a:t>
            </a:r>
            <a:r>
              <a:rPr sz="1400" b="1" spc="5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10" dirty="0">
                <a:solidFill>
                  <a:srgbClr val="263746"/>
                </a:solidFill>
                <a:latin typeface="Arial Black"/>
                <a:cs typeface="Arial Black"/>
              </a:rPr>
              <a:t>long </a:t>
            </a:r>
            <a:r>
              <a:rPr sz="1400" b="1" spc="-150" dirty="0">
                <a:solidFill>
                  <a:srgbClr val="263746"/>
                </a:solidFill>
                <a:latin typeface="Arial Black"/>
                <a:cs typeface="Arial Black"/>
              </a:rPr>
              <a:t>lecture</a:t>
            </a:r>
            <a:r>
              <a:rPr sz="1400" b="1" spc="5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95" dirty="0">
                <a:solidFill>
                  <a:srgbClr val="263746"/>
                </a:solidFill>
                <a:latin typeface="Arial Black"/>
                <a:cs typeface="Arial Black"/>
              </a:rPr>
              <a:t>can</a:t>
            </a:r>
            <a:r>
              <a:rPr sz="1400" b="1" spc="6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80" dirty="0">
                <a:solidFill>
                  <a:srgbClr val="263746"/>
                </a:solidFill>
                <a:latin typeface="Arial Black"/>
                <a:cs typeface="Arial Black"/>
              </a:rPr>
              <a:t>take</a:t>
            </a:r>
            <a:r>
              <a:rPr sz="1400" b="1" spc="6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80" dirty="0">
                <a:solidFill>
                  <a:srgbClr val="263746"/>
                </a:solidFill>
                <a:latin typeface="Arial Black"/>
                <a:cs typeface="Arial Black"/>
              </a:rPr>
              <a:t>too</a:t>
            </a:r>
            <a:r>
              <a:rPr sz="1400" b="1" spc="6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75" dirty="0">
                <a:solidFill>
                  <a:srgbClr val="263746"/>
                </a:solidFill>
                <a:latin typeface="Arial Black"/>
                <a:cs typeface="Arial Black"/>
              </a:rPr>
              <a:t>much</a:t>
            </a:r>
            <a:r>
              <a:rPr sz="1400" b="1" spc="5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400" b="1" spc="-10" dirty="0">
                <a:solidFill>
                  <a:srgbClr val="263746"/>
                </a:solidFill>
                <a:latin typeface="Arial Black"/>
                <a:cs typeface="Arial Black"/>
              </a:rPr>
              <a:t>time.</a:t>
            </a:r>
            <a:endParaRPr sz="1400" b="1">
              <a:latin typeface="Arial Black"/>
              <a:cs typeface="Arial Black"/>
            </a:endParaRPr>
          </a:p>
          <a:p>
            <a:pPr marL="214629" marR="223520" indent="-121920">
              <a:lnSpc>
                <a:spcPct val="106700"/>
              </a:lnSpc>
              <a:spcBef>
                <a:spcPts val="1150"/>
              </a:spcBef>
              <a:buClr>
                <a:srgbClr val="289B91"/>
              </a:buClr>
              <a:buSzPct val="64285"/>
              <a:buFont typeface="Arial"/>
              <a:buChar char="•"/>
              <a:tabLst>
                <a:tab pos="214629" algn="l"/>
              </a:tabLst>
            </a:pPr>
            <a:r>
              <a:rPr sz="1400" spc="-25" dirty="0">
                <a:solidFill>
                  <a:srgbClr val="263746"/>
                </a:solidFill>
                <a:latin typeface="Tahoma"/>
                <a:cs typeface="Tahoma"/>
              </a:rPr>
              <a:t>Students</a:t>
            </a:r>
            <a:r>
              <a:rPr sz="1400" spc="-7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263746"/>
                </a:solidFill>
                <a:latin typeface="Tahoma"/>
                <a:cs typeface="Tahoma"/>
              </a:rPr>
              <a:t>replay</a:t>
            </a:r>
            <a:r>
              <a:rPr sz="1400" spc="-6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or</a:t>
            </a:r>
            <a:r>
              <a:rPr sz="1400" spc="-6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63746"/>
                </a:solidFill>
                <a:latin typeface="Tahoma"/>
                <a:cs typeface="Tahoma"/>
              </a:rPr>
              <a:t>scrub</a:t>
            </a:r>
            <a:r>
              <a:rPr sz="1400" spc="-6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63746"/>
                </a:solidFill>
                <a:latin typeface="Tahoma"/>
                <a:cs typeface="Tahoma"/>
              </a:rPr>
              <a:t>through </a:t>
            </a:r>
            <a:r>
              <a:rPr sz="1400" spc="-60" dirty="0">
                <a:solidFill>
                  <a:srgbClr val="263746"/>
                </a:solidFill>
                <a:latin typeface="Tahoma"/>
                <a:cs typeface="Tahoma"/>
              </a:rPr>
              <a:t>videos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to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263746"/>
                </a:solidFill>
                <a:latin typeface="Tahoma"/>
                <a:cs typeface="Tahoma"/>
              </a:rPr>
              <a:t>find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a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 specific </a:t>
            </a:r>
            <a:r>
              <a:rPr sz="1400" spc="-10" dirty="0">
                <a:solidFill>
                  <a:srgbClr val="263746"/>
                </a:solidFill>
                <a:latin typeface="Tahoma"/>
                <a:cs typeface="Tahoma"/>
              </a:rPr>
              <a:t>topic.</a:t>
            </a:r>
            <a:endParaRPr sz="1400">
              <a:latin typeface="Tahoma"/>
              <a:cs typeface="Tahoma"/>
            </a:endParaRPr>
          </a:p>
          <a:p>
            <a:pPr marL="214629" marR="144145" indent="-121920">
              <a:lnSpc>
                <a:spcPct val="106700"/>
              </a:lnSpc>
              <a:spcBef>
                <a:spcPts val="300"/>
              </a:spcBef>
              <a:buClr>
                <a:srgbClr val="289B91"/>
              </a:buClr>
              <a:buSzPct val="64285"/>
              <a:buFont typeface="Arial"/>
              <a:buChar char="•"/>
              <a:tabLst>
                <a:tab pos="214629" algn="l"/>
              </a:tabLst>
            </a:pP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Ordinary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63746"/>
                </a:solidFill>
                <a:latin typeface="Tahoma"/>
                <a:cs typeface="Tahoma"/>
              </a:rPr>
              <a:t>question-answering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263746"/>
                </a:solidFill>
                <a:latin typeface="Tahoma"/>
                <a:cs typeface="Tahoma"/>
              </a:rPr>
              <a:t>tools </a:t>
            </a:r>
            <a:r>
              <a:rPr sz="1400" spc="-60" dirty="0">
                <a:solidFill>
                  <a:srgbClr val="263746"/>
                </a:solidFill>
                <a:latin typeface="Tahoma"/>
                <a:cs typeface="Tahoma"/>
              </a:rPr>
              <a:t>may</a:t>
            </a:r>
            <a:r>
              <a:rPr sz="1400" spc="-5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not</a:t>
            </a:r>
            <a:r>
              <a:rPr sz="1400" spc="-6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75" dirty="0">
                <a:solidFill>
                  <a:srgbClr val="263746"/>
                </a:solidFill>
                <a:latin typeface="Tahoma"/>
                <a:cs typeface="Tahoma"/>
              </a:rPr>
              <a:t>show</a:t>
            </a:r>
            <a:r>
              <a:rPr sz="14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400" spc="-4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55" dirty="0">
                <a:solidFill>
                  <a:srgbClr val="263746"/>
                </a:solidFill>
                <a:latin typeface="Tahoma"/>
                <a:cs typeface="Tahoma"/>
              </a:rPr>
              <a:t>source</a:t>
            </a:r>
            <a:r>
              <a:rPr sz="1400" spc="-5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of</a:t>
            </a:r>
            <a:r>
              <a:rPr sz="1400" spc="-4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63746"/>
                </a:solidFill>
                <a:latin typeface="Tahoma"/>
                <a:cs typeface="Tahoma"/>
              </a:rPr>
              <a:t>an </a:t>
            </a:r>
            <a:r>
              <a:rPr sz="1400" spc="-10" dirty="0">
                <a:solidFill>
                  <a:srgbClr val="263746"/>
                </a:solidFill>
                <a:latin typeface="Tahoma"/>
                <a:cs typeface="Tahoma"/>
              </a:rPr>
              <a:t>answer.</a:t>
            </a:r>
            <a:endParaRPr sz="1400">
              <a:latin typeface="Tahoma"/>
              <a:cs typeface="Tahoma"/>
            </a:endParaRPr>
          </a:p>
          <a:p>
            <a:pPr marL="214629" marR="164465" indent="-121920">
              <a:lnSpc>
                <a:spcPct val="106700"/>
              </a:lnSpc>
              <a:spcBef>
                <a:spcPts val="295"/>
              </a:spcBef>
              <a:buClr>
                <a:srgbClr val="289B91"/>
              </a:buClr>
              <a:buSzPct val="64285"/>
              <a:buFont typeface="Arial"/>
              <a:buChar char="•"/>
              <a:tabLst>
                <a:tab pos="214629" algn="l"/>
              </a:tabLst>
            </a:pPr>
            <a:r>
              <a:rPr sz="1400" spc="-60" dirty="0">
                <a:solidFill>
                  <a:srgbClr val="263746"/>
                </a:solidFill>
                <a:latin typeface="Tahoma"/>
                <a:cs typeface="Tahoma"/>
              </a:rPr>
              <a:t>Learners</a:t>
            </a:r>
            <a:r>
              <a:rPr sz="14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75" dirty="0">
                <a:solidFill>
                  <a:srgbClr val="263746"/>
                </a:solidFill>
                <a:latin typeface="Tahoma"/>
                <a:cs typeface="Tahoma"/>
              </a:rPr>
              <a:t>need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60" dirty="0">
                <a:solidFill>
                  <a:srgbClr val="263746"/>
                </a:solidFill>
                <a:latin typeface="Tahoma"/>
                <a:cs typeface="Tahoma"/>
              </a:rPr>
              <a:t>evidence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63746"/>
                </a:solidFill>
                <a:latin typeface="Tahoma"/>
                <a:cs typeface="Tahoma"/>
              </a:rPr>
              <a:t>they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25" dirty="0">
                <a:solidFill>
                  <a:srgbClr val="263746"/>
                </a:solidFill>
                <a:latin typeface="Tahoma"/>
                <a:cs typeface="Tahoma"/>
              </a:rPr>
              <a:t>can 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check</a:t>
            </a:r>
            <a:r>
              <a:rPr sz="1400" spc="-7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35" dirty="0">
                <a:solidFill>
                  <a:srgbClr val="263746"/>
                </a:solidFill>
                <a:latin typeface="Tahoma"/>
                <a:cs typeface="Tahoma"/>
              </a:rPr>
              <a:t>against</a:t>
            </a:r>
            <a:r>
              <a:rPr sz="1400" spc="-7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400" spc="-6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263746"/>
                </a:solidFill>
                <a:latin typeface="Tahoma"/>
                <a:cs typeface="Tahoma"/>
              </a:rPr>
              <a:t>original</a:t>
            </a:r>
            <a:r>
              <a:rPr sz="1400" spc="-7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400" spc="-40" dirty="0">
                <a:solidFill>
                  <a:srgbClr val="263746"/>
                </a:solidFill>
                <a:latin typeface="Tahoma"/>
                <a:cs typeface="Tahoma"/>
              </a:rPr>
              <a:t>lecture.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43427" y="726224"/>
          <a:ext cx="1898650" cy="17532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41910">
                        <a:lnSpc>
                          <a:spcPts val="140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Our</a:t>
                      </a:r>
                      <a:r>
                        <a:rPr sz="1200" spc="-8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idea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17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61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Ask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question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i="1" spc="-50" dirty="0">
                          <a:solidFill>
                            <a:srgbClr val="263746"/>
                          </a:solidFill>
                          <a:latin typeface="Arial"/>
                          <a:cs typeface="Arial"/>
                        </a:rPr>
                        <a:t>↓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Find</a:t>
                      </a:r>
                      <a:r>
                        <a:rPr sz="1000" spc="-4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evidence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i="1" spc="-50" dirty="0">
                          <a:solidFill>
                            <a:srgbClr val="263746"/>
                          </a:solidFill>
                          <a:latin typeface="Arial"/>
                          <a:cs typeface="Arial"/>
                        </a:rPr>
                        <a:t>↓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Answer</a:t>
                      </a:r>
                      <a:r>
                        <a:rPr sz="1000" spc="-4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sz="1000" spc="-6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timestamps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i="1" spc="-50" dirty="0">
                          <a:solidFill>
                            <a:srgbClr val="263746"/>
                          </a:solidFill>
                          <a:latin typeface="Arial"/>
                          <a:cs typeface="Arial"/>
                        </a:rPr>
                        <a:t>↓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Verify</a:t>
                      </a:r>
                      <a:r>
                        <a:rPr sz="1000" spc="-4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in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1000" spc="-4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video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2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77442"/>
            <a:ext cx="209486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40" dirty="0"/>
              <a:t> statement</a:t>
            </a:r>
            <a:r>
              <a:rPr spc="-45" dirty="0"/>
              <a:t> </a:t>
            </a:r>
            <a:r>
              <a:rPr spc="-30" dirty="0"/>
              <a:t>and</a:t>
            </a:r>
            <a:r>
              <a:rPr spc="-35" dirty="0"/>
              <a:t> </a:t>
            </a:r>
            <a:r>
              <a:rPr spc="-25" dirty="0"/>
              <a:t>gap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7830" y="810729"/>
          <a:ext cx="5124450" cy="56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41910">
                        <a:lnSpc>
                          <a:spcPts val="1400"/>
                        </a:lnSpc>
                      </a:pPr>
                      <a:r>
                        <a:rPr sz="1200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Problem</a:t>
                      </a:r>
                      <a:r>
                        <a:rPr sz="1200" spc="-4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statement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17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41910" marR="1949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Given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lecture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learner’s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question,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retrieve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relevant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transcript </a:t>
                      </a:r>
                      <a:r>
                        <a:rPr sz="1000" spc="-6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passages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provide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 </a:t>
                      </a:r>
                      <a:r>
                        <a:rPr sz="1000" spc="-6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answer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with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timestamps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that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allow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the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learner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verify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the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source.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1385665"/>
            <a:ext cx="5052060" cy="123253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spc="-120" dirty="0">
                <a:solidFill>
                  <a:srgbClr val="263746"/>
                </a:solidFill>
                <a:latin typeface="Arial Black"/>
                <a:cs typeface="Arial Black"/>
              </a:rPr>
              <a:t>Practical</a:t>
            </a:r>
            <a:r>
              <a:rPr sz="1000" spc="6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25" dirty="0">
                <a:solidFill>
                  <a:srgbClr val="263746"/>
                </a:solidFill>
                <a:latin typeface="Arial Black"/>
                <a:cs typeface="Arial Black"/>
              </a:rPr>
              <a:t>gap</a:t>
            </a:r>
            <a:r>
              <a:rPr sz="1000" spc="6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20" dirty="0">
                <a:solidFill>
                  <a:srgbClr val="263746"/>
                </a:solidFill>
                <a:latin typeface="Arial Black"/>
                <a:cs typeface="Arial Black"/>
              </a:rPr>
              <a:t>this</a:t>
            </a:r>
            <a:r>
              <a:rPr sz="1000" spc="6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10" dirty="0">
                <a:solidFill>
                  <a:srgbClr val="263746"/>
                </a:solidFill>
                <a:latin typeface="Arial Black"/>
                <a:cs typeface="Arial Black"/>
              </a:rPr>
              <a:t>prototype</a:t>
            </a:r>
            <a:r>
              <a:rPr sz="1000" spc="6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Arial Black"/>
                <a:cs typeface="Arial Black"/>
              </a:rPr>
              <a:t>targets</a:t>
            </a:r>
            <a:endParaRPr sz="1000">
              <a:latin typeface="Arial Black"/>
              <a:cs typeface="Arial Black"/>
            </a:endParaRPr>
          </a:p>
          <a:p>
            <a:pPr marL="176530" indent="-121285">
              <a:lnSpc>
                <a:spcPct val="100000"/>
              </a:lnSpc>
              <a:spcBef>
                <a:spcPts val="5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Connect </a:t>
            </a:r>
            <a:r>
              <a:rPr sz="1000" spc="-65" dirty="0">
                <a:solidFill>
                  <a:srgbClr val="263746"/>
                </a:solidFill>
                <a:latin typeface="Tahoma"/>
                <a:cs typeface="Tahoma"/>
              </a:rPr>
              <a:t>answers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to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specific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points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in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a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lecture.</a:t>
            </a:r>
            <a:endParaRPr sz="1000">
              <a:latin typeface="Tahoma"/>
              <a:cs typeface="Tahoma"/>
            </a:endParaRPr>
          </a:p>
          <a:p>
            <a:pPr marL="176530" indent="-121285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Show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transcript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evidence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instead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of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hiding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source.</a:t>
            </a:r>
            <a:endParaRPr sz="1000">
              <a:latin typeface="Tahoma"/>
              <a:cs typeface="Tahoma"/>
            </a:endParaRPr>
          </a:p>
          <a:p>
            <a:pPr marL="176530" indent="-121285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Avoid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guessing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solidFill>
                  <a:srgbClr val="263746"/>
                </a:solidFill>
                <a:latin typeface="Tahoma"/>
                <a:cs typeface="Tahoma"/>
              </a:rPr>
              <a:t>when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transcript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does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not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contain </a:t>
            </a:r>
            <a:r>
              <a:rPr sz="1000" spc="-60" dirty="0">
                <a:solidFill>
                  <a:srgbClr val="263746"/>
                </a:solidFill>
                <a:latin typeface="Tahoma"/>
                <a:cs typeface="Tahoma"/>
              </a:rPr>
              <a:t>enough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evidence.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42300"/>
              </a:lnSpc>
              <a:spcBef>
                <a:spcPts val="540"/>
              </a:spcBef>
            </a:pP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Scope:</a:t>
            </a:r>
            <a:r>
              <a:rPr sz="700" spc="9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lecture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question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answering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timestamped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retrieval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are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existing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30" dirty="0">
                <a:solidFill>
                  <a:srgbClr val="637280"/>
                </a:solidFill>
                <a:latin typeface="Arial"/>
                <a:cs typeface="Arial"/>
              </a:rPr>
              <a:t>research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areas.</a:t>
            </a:r>
            <a:r>
              <a:rPr sz="700" spc="9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This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project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implements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evaluates</a:t>
            </a:r>
            <a:r>
              <a:rPr sz="700" spc="50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integrated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workflow;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it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does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not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claim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overall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problem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is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new.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3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2095" rIns="0" bIns="0" rtlCol="0">
            <a:spAutoFit/>
          </a:bodyPr>
          <a:lstStyle/>
          <a:p>
            <a:pPr marL="175895" indent="-160655">
              <a:lnSpc>
                <a:spcPct val="100000"/>
              </a:lnSpc>
              <a:spcBef>
                <a:spcPts val="3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10" dirty="0">
                <a:latin typeface="Tahoma"/>
                <a:cs typeface="Tahoma"/>
              </a:rPr>
              <a:t>Accept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local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lecture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35" dirty="0">
                <a:latin typeface="Tahoma"/>
                <a:cs typeface="Tahoma"/>
              </a:rPr>
              <a:t>media,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supported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YouTube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URLs,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and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transcript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inputs.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25" dirty="0">
                <a:latin typeface="Tahoma"/>
                <a:cs typeface="Tahoma"/>
              </a:rPr>
              <a:t>Convert</a:t>
            </a:r>
            <a:r>
              <a:rPr spc="-55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speech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to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text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or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import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an</a:t>
            </a:r>
            <a:r>
              <a:rPr spc="-30" dirty="0">
                <a:latin typeface="Tahoma"/>
                <a:cs typeface="Tahoma"/>
              </a:rPr>
              <a:t> existing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transcript.</a:t>
            </a:r>
          </a:p>
          <a:p>
            <a:pPr marL="175895" indent="-160655">
              <a:lnSpc>
                <a:spcPct val="100000"/>
              </a:lnSpc>
              <a:spcBef>
                <a:spcPts val="290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20" dirty="0">
                <a:latin typeface="Tahoma"/>
                <a:cs typeface="Tahoma"/>
              </a:rPr>
              <a:t>Keep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20" dirty="0">
                <a:latin typeface="Tahoma"/>
                <a:cs typeface="Tahoma"/>
              </a:rPr>
              <a:t>transcript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segments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linked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to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timestamps.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30" dirty="0">
                <a:latin typeface="Tahoma"/>
                <a:cs typeface="Tahoma"/>
              </a:rPr>
              <a:t>Retrieve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65" dirty="0">
                <a:latin typeface="Tahoma"/>
                <a:cs typeface="Tahoma"/>
              </a:rPr>
              <a:t>passages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35" dirty="0">
                <a:latin typeface="Tahoma"/>
                <a:cs typeface="Tahoma"/>
              </a:rPr>
              <a:t>relevant</a:t>
            </a:r>
            <a:r>
              <a:rPr spc="-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to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user’s</a:t>
            </a:r>
            <a:r>
              <a:rPr spc="-10" dirty="0">
                <a:latin typeface="Tahoma"/>
                <a:cs typeface="Tahoma"/>
              </a:rPr>
              <a:t> question.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20" dirty="0">
                <a:latin typeface="Tahoma"/>
                <a:cs typeface="Tahoma"/>
              </a:rPr>
              <a:t>Display</a:t>
            </a:r>
            <a:r>
              <a:rPr spc="-40" dirty="0">
                <a:latin typeface="Tahoma"/>
                <a:cs typeface="Tahoma"/>
              </a:rPr>
              <a:t> source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excerpts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and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timestamp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references.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10" dirty="0">
                <a:latin typeface="Tahoma"/>
                <a:cs typeface="Tahoma"/>
              </a:rPr>
              <a:t>Abstain</a:t>
            </a:r>
            <a:r>
              <a:rPr spc="-50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when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the</a:t>
            </a:r>
            <a:r>
              <a:rPr spc="-25" dirty="0">
                <a:latin typeface="Tahoma"/>
                <a:cs typeface="Tahoma"/>
              </a:rPr>
              <a:t> available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evidence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is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insufficient.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7830" y="2115350"/>
          <a:ext cx="5124450" cy="4781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marL="41910">
                        <a:lnSpc>
                          <a:spcPts val="140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Main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design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principle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17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spc="-8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Answers</a:t>
                      </a:r>
                      <a:r>
                        <a:rPr sz="12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should</a:t>
                      </a:r>
                      <a:r>
                        <a:rPr sz="1200" spc="-4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be</a:t>
                      </a:r>
                      <a:r>
                        <a:rPr sz="12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inspectable,</a:t>
                      </a:r>
                      <a:r>
                        <a:rPr sz="12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not</a:t>
                      </a:r>
                      <a:r>
                        <a:rPr sz="12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just </a:t>
                      </a:r>
                      <a:r>
                        <a:rPr sz="12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readable.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4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System</a:t>
            </a:r>
            <a:r>
              <a:rPr spc="-75" dirty="0"/>
              <a:t> </a:t>
            </a:r>
            <a:r>
              <a:rPr spc="-35" dirty="0"/>
              <a:t>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59978" y="958554"/>
            <a:ext cx="1726564" cy="336550"/>
            <a:chOff x="359978" y="958554"/>
            <a:chExt cx="1726564" cy="336550"/>
          </a:xfrm>
        </p:grpSpPr>
        <p:sp>
          <p:nvSpPr>
            <p:cNvPr id="5" name="object 5"/>
            <p:cNvSpPr/>
            <p:nvPr/>
          </p:nvSpPr>
          <p:spPr>
            <a:xfrm>
              <a:off x="362518" y="961094"/>
              <a:ext cx="1721485" cy="331470"/>
            </a:xfrm>
            <a:custGeom>
              <a:avLst/>
              <a:gdLst/>
              <a:ahLst/>
              <a:cxnLst/>
              <a:rect l="l" t="t" r="r" b="b"/>
              <a:pathLst>
                <a:path w="1721485" h="331469">
                  <a:moveTo>
                    <a:pt x="167062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0459"/>
                  </a:lnTo>
                  <a:lnTo>
                    <a:pt x="3977" y="300159"/>
                  </a:lnTo>
                  <a:lnTo>
                    <a:pt x="14823" y="316246"/>
                  </a:lnTo>
                  <a:lnTo>
                    <a:pt x="30910" y="327092"/>
                  </a:lnTo>
                  <a:lnTo>
                    <a:pt x="50610" y="331070"/>
                  </a:lnTo>
                  <a:lnTo>
                    <a:pt x="1670625" y="331070"/>
                  </a:lnTo>
                  <a:lnTo>
                    <a:pt x="1690326" y="327092"/>
                  </a:lnTo>
                  <a:lnTo>
                    <a:pt x="1706413" y="316246"/>
                  </a:lnTo>
                  <a:lnTo>
                    <a:pt x="1717259" y="300159"/>
                  </a:lnTo>
                  <a:lnTo>
                    <a:pt x="1721236" y="280459"/>
                  </a:lnTo>
                  <a:lnTo>
                    <a:pt x="1721236" y="50610"/>
                  </a:lnTo>
                  <a:lnTo>
                    <a:pt x="1717259" y="30910"/>
                  </a:lnTo>
                  <a:lnTo>
                    <a:pt x="1706413" y="14823"/>
                  </a:lnTo>
                  <a:lnTo>
                    <a:pt x="1690326" y="3977"/>
                  </a:lnTo>
                  <a:lnTo>
                    <a:pt x="1670625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2518" y="961094"/>
              <a:ext cx="1721485" cy="331470"/>
            </a:xfrm>
            <a:custGeom>
              <a:avLst/>
              <a:gdLst/>
              <a:ahLst/>
              <a:cxnLst/>
              <a:rect l="l" t="t" r="r" b="b"/>
              <a:pathLst>
                <a:path w="1721485" h="331469">
                  <a:moveTo>
                    <a:pt x="167062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0459"/>
                  </a:lnTo>
                  <a:lnTo>
                    <a:pt x="3977" y="300159"/>
                  </a:lnTo>
                  <a:lnTo>
                    <a:pt x="14823" y="316246"/>
                  </a:lnTo>
                  <a:lnTo>
                    <a:pt x="30910" y="327092"/>
                  </a:lnTo>
                  <a:lnTo>
                    <a:pt x="50610" y="331070"/>
                  </a:lnTo>
                  <a:lnTo>
                    <a:pt x="1670625" y="331070"/>
                  </a:lnTo>
                  <a:lnTo>
                    <a:pt x="1690326" y="327092"/>
                  </a:lnTo>
                  <a:lnTo>
                    <a:pt x="1706413" y="316246"/>
                  </a:lnTo>
                  <a:lnTo>
                    <a:pt x="1717259" y="300159"/>
                  </a:lnTo>
                  <a:lnTo>
                    <a:pt x="1721236" y="280459"/>
                  </a:lnTo>
                  <a:lnTo>
                    <a:pt x="1721236" y="50610"/>
                  </a:lnTo>
                  <a:lnTo>
                    <a:pt x="1717259" y="30910"/>
                  </a:lnTo>
                  <a:lnTo>
                    <a:pt x="1706413" y="14823"/>
                  </a:lnTo>
                  <a:lnTo>
                    <a:pt x="1690326" y="3977"/>
                  </a:lnTo>
                  <a:lnTo>
                    <a:pt x="1670625" y="0"/>
                  </a:lnTo>
                  <a:close/>
                </a:path>
              </a:pathLst>
            </a:custGeom>
            <a:ln w="5060">
              <a:solidFill>
                <a:srgbClr val="689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91998" y="955771"/>
            <a:ext cx="1663064" cy="30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Lecture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input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Video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210" dirty="0">
                <a:solidFill>
                  <a:srgbClr val="263746"/>
                </a:solidFill>
                <a:latin typeface="Arial"/>
                <a:cs typeface="Arial"/>
              </a:rPr>
              <a:t>/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audio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210" dirty="0">
                <a:solidFill>
                  <a:srgbClr val="263746"/>
                </a:solidFill>
                <a:latin typeface="Arial"/>
                <a:cs typeface="Arial"/>
              </a:rPr>
              <a:t>/</a:t>
            </a:r>
            <a:r>
              <a:rPr sz="900" spc="2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URL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210" dirty="0">
                <a:solidFill>
                  <a:srgbClr val="263746"/>
                </a:solidFill>
                <a:latin typeface="Arial"/>
                <a:cs typeface="Arial"/>
              </a:rPr>
              <a:t>/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transcript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212280" y="961717"/>
            <a:ext cx="992505" cy="330200"/>
            <a:chOff x="2212280" y="961717"/>
            <a:chExt cx="992505" cy="330200"/>
          </a:xfrm>
        </p:grpSpPr>
        <p:sp>
          <p:nvSpPr>
            <p:cNvPr id="9" name="object 9"/>
            <p:cNvSpPr/>
            <p:nvPr/>
          </p:nvSpPr>
          <p:spPr>
            <a:xfrm>
              <a:off x="2214820" y="964257"/>
              <a:ext cx="987425" cy="325120"/>
            </a:xfrm>
            <a:custGeom>
              <a:avLst/>
              <a:gdLst/>
              <a:ahLst/>
              <a:cxnLst/>
              <a:rect l="l" t="t" r="r" b="b"/>
              <a:pathLst>
                <a:path w="987425" h="325119">
                  <a:moveTo>
                    <a:pt x="93641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4132"/>
                  </a:lnTo>
                  <a:lnTo>
                    <a:pt x="3977" y="293833"/>
                  </a:lnTo>
                  <a:lnTo>
                    <a:pt x="14823" y="309920"/>
                  </a:lnTo>
                  <a:lnTo>
                    <a:pt x="30910" y="320766"/>
                  </a:lnTo>
                  <a:lnTo>
                    <a:pt x="50610" y="324743"/>
                  </a:lnTo>
                  <a:lnTo>
                    <a:pt x="936418" y="324743"/>
                  </a:lnTo>
                  <a:lnTo>
                    <a:pt x="956118" y="320766"/>
                  </a:lnTo>
                  <a:lnTo>
                    <a:pt x="972205" y="309920"/>
                  </a:lnTo>
                  <a:lnTo>
                    <a:pt x="983052" y="293833"/>
                  </a:lnTo>
                  <a:lnTo>
                    <a:pt x="987029" y="274132"/>
                  </a:lnTo>
                  <a:lnTo>
                    <a:pt x="987029" y="50610"/>
                  </a:lnTo>
                  <a:lnTo>
                    <a:pt x="983052" y="30910"/>
                  </a:lnTo>
                  <a:lnTo>
                    <a:pt x="972205" y="14823"/>
                  </a:lnTo>
                  <a:lnTo>
                    <a:pt x="956118" y="3977"/>
                  </a:lnTo>
                  <a:lnTo>
                    <a:pt x="936418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214820" y="964257"/>
              <a:ext cx="987425" cy="325120"/>
            </a:xfrm>
            <a:custGeom>
              <a:avLst/>
              <a:gdLst/>
              <a:ahLst/>
              <a:cxnLst/>
              <a:rect l="l" t="t" r="r" b="b"/>
              <a:pathLst>
                <a:path w="987425" h="325119">
                  <a:moveTo>
                    <a:pt x="93641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4132"/>
                  </a:lnTo>
                  <a:lnTo>
                    <a:pt x="3977" y="293833"/>
                  </a:lnTo>
                  <a:lnTo>
                    <a:pt x="14823" y="309920"/>
                  </a:lnTo>
                  <a:lnTo>
                    <a:pt x="30910" y="320766"/>
                  </a:lnTo>
                  <a:lnTo>
                    <a:pt x="50610" y="324743"/>
                  </a:lnTo>
                  <a:lnTo>
                    <a:pt x="936418" y="324743"/>
                  </a:lnTo>
                  <a:lnTo>
                    <a:pt x="956118" y="320766"/>
                  </a:lnTo>
                  <a:lnTo>
                    <a:pt x="972205" y="309920"/>
                  </a:lnTo>
                  <a:lnTo>
                    <a:pt x="983052" y="293833"/>
                  </a:lnTo>
                  <a:lnTo>
                    <a:pt x="987029" y="274132"/>
                  </a:lnTo>
                  <a:lnTo>
                    <a:pt x="987029" y="50610"/>
                  </a:lnTo>
                  <a:lnTo>
                    <a:pt x="983052" y="30910"/>
                  </a:lnTo>
                  <a:lnTo>
                    <a:pt x="972205" y="14823"/>
                  </a:lnTo>
                  <a:lnTo>
                    <a:pt x="956118" y="3977"/>
                  </a:lnTo>
                  <a:lnTo>
                    <a:pt x="936418" y="0"/>
                  </a:lnTo>
                  <a:close/>
                </a:path>
              </a:pathLst>
            </a:custGeom>
            <a:ln w="5060">
              <a:solidFill>
                <a:srgbClr val="689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244280" y="958933"/>
            <a:ext cx="928369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25146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Whisper </a:t>
            </a:r>
            <a:r>
              <a:rPr sz="900" spc="-60" dirty="0">
                <a:solidFill>
                  <a:srgbClr val="263746"/>
                </a:solidFill>
                <a:latin typeface="Arial"/>
                <a:cs typeface="Arial"/>
              </a:rPr>
              <a:t>speech</a:t>
            </a:r>
            <a:r>
              <a:rPr sz="900" spc="4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recognition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330374" y="961717"/>
            <a:ext cx="1043305" cy="330200"/>
            <a:chOff x="3330374" y="961717"/>
            <a:chExt cx="1043305" cy="330200"/>
          </a:xfrm>
        </p:grpSpPr>
        <p:sp>
          <p:nvSpPr>
            <p:cNvPr id="13" name="object 13"/>
            <p:cNvSpPr/>
            <p:nvPr/>
          </p:nvSpPr>
          <p:spPr>
            <a:xfrm>
              <a:off x="3332914" y="964257"/>
              <a:ext cx="1038225" cy="325120"/>
            </a:xfrm>
            <a:custGeom>
              <a:avLst/>
              <a:gdLst/>
              <a:ahLst/>
              <a:cxnLst/>
              <a:rect l="l" t="t" r="r" b="b"/>
              <a:pathLst>
                <a:path w="1038225" h="325119">
                  <a:moveTo>
                    <a:pt x="98714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4132"/>
                  </a:lnTo>
                  <a:lnTo>
                    <a:pt x="3977" y="293833"/>
                  </a:lnTo>
                  <a:lnTo>
                    <a:pt x="14823" y="309920"/>
                  </a:lnTo>
                  <a:lnTo>
                    <a:pt x="30910" y="320766"/>
                  </a:lnTo>
                  <a:lnTo>
                    <a:pt x="50610" y="324743"/>
                  </a:lnTo>
                  <a:lnTo>
                    <a:pt x="987140" y="324743"/>
                  </a:lnTo>
                  <a:lnTo>
                    <a:pt x="1006840" y="320766"/>
                  </a:lnTo>
                  <a:lnTo>
                    <a:pt x="1022927" y="309920"/>
                  </a:lnTo>
                  <a:lnTo>
                    <a:pt x="1033773" y="293833"/>
                  </a:lnTo>
                  <a:lnTo>
                    <a:pt x="1037751" y="274132"/>
                  </a:lnTo>
                  <a:lnTo>
                    <a:pt x="1037751" y="50610"/>
                  </a:lnTo>
                  <a:lnTo>
                    <a:pt x="1033773" y="30910"/>
                  </a:lnTo>
                  <a:lnTo>
                    <a:pt x="1022927" y="14823"/>
                  </a:lnTo>
                  <a:lnTo>
                    <a:pt x="1006840" y="3977"/>
                  </a:lnTo>
                  <a:lnTo>
                    <a:pt x="987140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32914" y="964257"/>
              <a:ext cx="1038225" cy="325120"/>
            </a:xfrm>
            <a:custGeom>
              <a:avLst/>
              <a:gdLst/>
              <a:ahLst/>
              <a:cxnLst/>
              <a:rect l="l" t="t" r="r" b="b"/>
              <a:pathLst>
                <a:path w="1038225" h="325119">
                  <a:moveTo>
                    <a:pt x="98714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4132"/>
                  </a:lnTo>
                  <a:lnTo>
                    <a:pt x="3977" y="293833"/>
                  </a:lnTo>
                  <a:lnTo>
                    <a:pt x="14823" y="309920"/>
                  </a:lnTo>
                  <a:lnTo>
                    <a:pt x="30910" y="320766"/>
                  </a:lnTo>
                  <a:lnTo>
                    <a:pt x="50610" y="324743"/>
                  </a:lnTo>
                  <a:lnTo>
                    <a:pt x="987140" y="324743"/>
                  </a:lnTo>
                  <a:lnTo>
                    <a:pt x="1006840" y="320766"/>
                  </a:lnTo>
                  <a:lnTo>
                    <a:pt x="1022927" y="309920"/>
                  </a:lnTo>
                  <a:lnTo>
                    <a:pt x="1033773" y="293833"/>
                  </a:lnTo>
                  <a:lnTo>
                    <a:pt x="1037751" y="274132"/>
                  </a:lnTo>
                  <a:lnTo>
                    <a:pt x="1037751" y="50610"/>
                  </a:lnTo>
                  <a:lnTo>
                    <a:pt x="1033773" y="30910"/>
                  </a:lnTo>
                  <a:lnTo>
                    <a:pt x="1022927" y="14823"/>
                  </a:lnTo>
                  <a:lnTo>
                    <a:pt x="1006840" y="3977"/>
                  </a:lnTo>
                  <a:lnTo>
                    <a:pt x="987140" y="0"/>
                  </a:lnTo>
                  <a:close/>
                </a:path>
              </a:pathLst>
            </a:custGeom>
            <a:ln w="5060">
              <a:solidFill>
                <a:srgbClr val="689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362362" y="958933"/>
            <a:ext cx="979169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43510">
              <a:lnSpc>
                <a:spcPct val="101499"/>
              </a:lnSpc>
              <a:spcBef>
                <a:spcPts val="80"/>
              </a:spcBef>
            </a:pP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Timestamped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transcript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55" dirty="0">
                <a:solidFill>
                  <a:srgbClr val="263746"/>
                </a:solidFill>
                <a:latin typeface="Arial"/>
                <a:cs typeface="Arial"/>
              </a:rPr>
              <a:t>segments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99190" y="972788"/>
            <a:ext cx="932180" cy="307975"/>
            <a:chOff x="4499190" y="972788"/>
            <a:chExt cx="932180" cy="307975"/>
          </a:xfrm>
        </p:grpSpPr>
        <p:sp>
          <p:nvSpPr>
            <p:cNvPr id="17" name="object 17"/>
            <p:cNvSpPr/>
            <p:nvPr/>
          </p:nvSpPr>
          <p:spPr>
            <a:xfrm>
              <a:off x="4501730" y="975328"/>
              <a:ext cx="927100" cy="302895"/>
            </a:xfrm>
            <a:custGeom>
              <a:avLst/>
              <a:gdLst/>
              <a:ahLst/>
              <a:cxnLst/>
              <a:rect l="l" t="t" r="r" b="b"/>
              <a:pathLst>
                <a:path w="927100" h="302894">
                  <a:moveTo>
                    <a:pt x="8759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90"/>
                  </a:lnTo>
                  <a:lnTo>
                    <a:pt x="3977" y="271690"/>
                  </a:lnTo>
                  <a:lnTo>
                    <a:pt x="14823" y="287778"/>
                  </a:lnTo>
                  <a:lnTo>
                    <a:pt x="30910" y="298624"/>
                  </a:lnTo>
                  <a:lnTo>
                    <a:pt x="50610" y="302601"/>
                  </a:lnTo>
                  <a:lnTo>
                    <a:pt x="875915" y="302601"/>
                  </a:lnTo>
                  <a:lnTo>
                    <a:pt x="895616" y="298624"/>
                  </a:lnTo>
                  <a:lnTo>
                    <a:pt x="911703" y="287778"/>
                  </a:lnTo>
                  <a:lnTo>
                    <a:pt x="922549" y="271690"/>
                  </a:lnTo>
                  <a:lnTo>
                    <a:pt x="926526" y="251990"/>
                  </a:lnTo>
                  <a:lnTo>
                    <a:pt x="926526" y="50610"/>
                  </a:lnTo>
                  <a:lnTo>
                    <a:pt x="922549" y="30910"/>
                  </a:lnTo>
                  <a:lnTo>
                    <a:pt x="911703" y="14823"/>
                  </a:lnTo>
                  <a:lnTo>
                    <a:pt x="895616" y="3977"/>
                  </a:lnTo>
                  <a:lnTo>
                    <a:pt x="875915" y="0"/>
                  </a:lnTo>
                  <a:close/>
                </a:path>
              </a:pathLst>
            </a:custGeom>
            <a:solidFill>
              <a:srgbClr val="F2F7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01730" y="975328"/>
              <a:ext cx="927100" cy="302895"/>
            </a:xfrm>
            <a:custGeom>
              <a:avLst/>
              <a:gdLst/>
              <a:ahLst/>
              <a:cxnLst/>
              <a:rect l="l" t="t" r="r" b="b"/>
              <a:pathLst>
                <a:path w="927100" h="302894">
                  <a:moveTo>
                    <a:pt x="875915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90"/>
                  </a:lnTo>
                  <a:lnTo>
                    <a:pt x="3977" y="271690"/>
                  </a:lnTo>
                  <a:lnTo>
                    <a:pt x="14823" y="287778"/>
                  </a:lnTo>
                  <a:lnTo>
                    <a:pt x="30910" y="298624"/>
                  </a:lnTo>
                  <a:lnTo>
                    <a:pt x="50610" y="302601"/>
                  </a:lnTo>
                  <a:lnTo>
                    <a:pt x="875915" y="302601"/>
                  </a:lnTo>
                  <a:lnTo>
                    <a:pt x="895616" y="298624"/>
                  </a:lnTo>
                  <a:lnTo>
                    <a:pt x="911703" y="287778"/>
                  </a:lnTo>
                  <a:lnTo>
                    <a:pt x="922549" y="271690"/>
                  </a:lnTo>
                  <a:lnTo>
                    <a:pt x="926526" y="251990"/>
                  </a:lnTo>
                  <a:lnTo>
                    <a:pt x="926526" y="50610"/>
                  </a:lnTo>
                  <a:lnTo>
                    <a:pt x="922549" y="30910"/>
                  </a:lnTo>
                  <a:lnTo>
                    <a:pt x="911703" y="14823"/>
                  </a:lnTo>
                  <a:lnTo>
                    <a:pt x="895616" y="3977"/>
                  </a:lnTo>
                  <a:lnTo>
                    <a:pt x="875915" y="0"/>
                  </a:lnTo>
                  <a:close/>
                </a:path>
              </a:pathLst>
            </a:custGeom>
            <a:ln w="5060">
              <a:solidFill>
                <a:srgbClr val="6899C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31156" y="970008"/>
            <a:ext cx="868044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47625">
              <a:lnSpc>
                <a:spcPct val="101499"/>
              </a:lnSpc>
              <a:spcBef>
                <a:spcPts val="80"/>
              </a:spcBef>
            </a:pPr>
            <a:r>
              <a:rPr sz="900" spc="-45" dirty="0">
                <a:solidFill>
                  <a:srgbClr val="263746"/>
                </a:solidFill>
                <a:latin typeface="Arial"/>
                <a:cs typeface="Arial"/>
              </a:rPr>
              <a:t>Question-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based </a:t>
            </a:r>
            <a:r>
              <a:rPr sz="900" spc="-50" dirty="0">
                <a:solidFill>
                  <a:srgbClr val="263746"/>
                </a:solidFill>
                <a:latin typeface="Arial"/>
                <a:cs typeface="Arial"/>
              </a:rPr>
              <a:t>evidence</a:t>
            </a:r>
            <a:r>
              <a:rPr sz="900" spc="2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retrieval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301841" y="1647386"/>
            <a:ext cx="1008380" cy="330200"/>
            <a:chOff x="3301841" y="1647386"/>
            <a:chExt cx="1008380" cy="330200"/>
          </a:xfrm>
        </p:grpSpPr>
        <p:sp>
          <p:nvSpPr>
            <p:cNvPr id="25" name="object 25"/>
            <p:cNvSpPr/>
            <p:nvPr/>
          </p:nvSpPr>
          <p:spPr>
            <a:xfrm>
              <a:off x="3304381" y="1649926"/>
              <a:ext cx="1003300" cy="325120"/>
            </a:xfrm>
            <a:custGeom>
              <a:avLst/>
              <a:gdLst/>
              <a:ahLst/>
              <a:cxnLst/>
              <a:rect l="l" t="t" r="r" b="b"/>
              <a:pathLst>
                <a:path w="1003300" h="325119">
                  <a:moveTo>
                    <a:pt x="95255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4133"/>
                  </a:lnTo>
                  <a:lnTo>
                    <a:pt x="3977" y="293833"/>
                  </a:lnTo>
                  <a:lnTo>
                    <a:pt x="14823" y="309920"/>
                  </a:lnTo>
                  <a:lnTo>
                    <a:pt x="30910" y="320766"/>
                  </a:lnTo>
                  <a:lnTo>
                    <a:pt x="50610" y="324744"/>
                  </a:lnTo>
                  <a:lnTo>
                    <a:pt x="952558" y="324744"/>
                  </a:lnTo>
                  <a:lnTo>
                    <a:pt x="972259" y="320766"/>
                  </a:lnTo>
                  <a:lnTo>
                    <a:pt x="988346" y="309920"/>
                  </a:lnTo>
                  <a:lnTo>
                    <a:pt x="999192" y="293833"/>
                  </a:lnTo>
                  <a:lnTo>
                    <a:pt x="1003169" y="274133"/>
                  </a:lnTo>
                  <a:lnTo>
                    <a:pt x="1003169" y="50610"/>
                  </a:lnTo>
                  <a:lnTo>
                    <a:pt x="999192" y="30910"/>
                  </a:lnTo>
                  <a:lnTo>
                    <a:pt x="988346" y="14823"/>
                  </a:lnTo>
                  <a:lnTo>
                    <a:pt x="972259" y="3977"/>
                  </a:lnTo>
                  <a:lnTo>
                    <a:pt x="952558" y="0"/>
                  </a:lnTo>
                  <a:close/>
                </a:path>
              </a:pathLst>
            </a:custGeom>
            <a:solidFill>
              <a:srgbClr val="E9F5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304381" y="1649926"/>
              <a:ext cx="1003300" cy="325120"/>
            </a:xfrm>
            <a:custGeom>
              <a:avLst/>
              <a:gdLst/>
              <a:ahLst/>
              <a:cxnLst/>
              <a:rect l="l" t="t" r="r" b="b"/>
              <a:pathLst>
                <a:path w="1003300" h="325119">
                  <a:moveTo>
                    <a:pt x="952558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4133"/>
                  </a:lnTo>
                  <a:lnTo>
                    <a:pt x="3977" y="293833"/>
                  </a:lnTo>
                  <a:lnTo>
                    <a:pt x="14823" y="309920"/>
                  </a:lnTo>
                  <a:lnTo>
                    <a:pt x="30910" y="320766"/>
                  </a:lnTo>
                  <a:lnTo>
                    <a:pt x="50610" y="324744"/>
                  </a:lnTo>
                  <a:lnTo>
                    <a:pt x="952558" y="324744"/>
                  </a:lnTo>
                  <a:lnTo>
                    <a:pt x="972259" y="320766"/>
                  </a:lnTo>
                  <a:lnTo>
                    <a:pt x="988346" y="309920"/>
                  </a:lnTo>
                  <a:lnTo>
                    <a:pt x="999192" y="293833"/>
                  </a:lnTo>
                  <a:lnTo>
                    <a:pt x="1003169" y="274133"/>
                  </a:lnTo>
                  <a:lnTo>
                    <a:pt x="1003169" y="50610"/>
                  </a:lnTo>
                  <a:lnTo>
                    <a:pt x="999192" y="30910"/>
                  </a:lnTo>
                  <a:lnTo>
                    <a:pt x="988346" y="14823"/>
                  </a:lnTo>
                  <a:lnTo>
                    <a:pt x="972259" y="3977"/>
                  </a:lnTo>
                  <a:lnTo>
                    <a:pt x="952558" y="0"/>
                  </a:lnTo>
                  <a:close/>
                </a:path>
              </a:pathLst>
            </a:custGeom>
            <a:ln w="5060">
              <a:solidFill>
                <a:srgbClr val="207C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333826" y="1644594"/>
            <a:ext cx="944880" cy="30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900" spc="-30" dirty="0">
                <a:solidFill>
                  <a:srgbClr val="263746"/>
                </a:solidFill>
                <a:latin typeface="Arial"/>
                <a:cs typeface="Arial"/>
              </a:rPr>
              <a:t>Answer</a:t>
            </a:r>
            <a:r>
              <a:rPr sz="900" spc="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185" dirty="0">
                <a:solidFill>
                  <a:srgbClr val="263746"/>
                </a:solidFill>
                <a:latin typeface="Arial"/>
                <a:cs typeface="Arial"/>
              </a:rPr>
              <a:t>+</a:t>
            </a:r>
            <a:r>
              <a:rPr sz="900" spc="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excerpts</a:t>
            </a:r>
            <a:endParaRPr sz="9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900" spc="185" dirty="0">
                <a:solidFill>
                  <a:srgbClr val="263746"/>
                </a:solidFill>
                <a:latin typeface="Arial"/>
                <a:cs typeface="Arial"/>
              </a:rPr>
              <a:t>+</a:t>
            </a:r>
            <a:r>
              <a:rPr sz="900" spc="5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timestamps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436076" y="1658457"/>
            <a:ext cx="1057910" cy="307975"/>
            <a:chOff x="4436076" y="1658457"/>
            <a:chExt cx="1057910" cy="307975"/>
          </a:xfrm>
        </p:grpSpPr>
        <p:sp>
          <p:nvSpPr>
            <p:cNvPr id="21" name="object 21"/>
            <p:cNvSpPr/>
            <p:nvPr/>
          </p:nvSpPr>
          <p:spPr>
            <a:xfrm>
              <a:off x="4438616" y="1660997"/>
              <a:ext cx="1052830" cy="302895"/>
            </a:xfrm>
            <a:custGeom>
              <a:avLst/>
              <a:gdLst/>
              <a:ahLst/>
              <a:cxnLst/>
              <a:rect l="l" t="t" r="r" b="b"/>
              <a:pathLst>
                <a:path w="1052829" h="302894">
                  <a:moveTo>
                    <a:pt x="100214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90"/>
                  </a:lnTo>
                  <a:lnTo>
                    <a:pt x="3977" y="271691"/>
                  </a:lnTo>
                  <a:lnTo>
                    <a:pt x="14823" y="287778"/>
                  </a:lnTo>
                  <a:lnTo>
                    <a:pt x="30910" y="298624"/>
                  </a:lnTo>
                  <a:lnTo>
                    <a:pt x="50610" y="302601"/>
                  </a:lnTo>
                  <a:lnTo>
                    <a:pt x="1002143" y="302601"/>
                  </a:lnTo>
                  <a:lnTo>
                    <a:pt x="1021843" y="298624"/>
                  </a:lnTo>
                  <a:lnTo>
                    <a:pt x="1037930" y="287778"/>
                  </a:lnTo>
                  <a:lnTo>
                    <a:pt x="1048777" y="271691"/>
                  </a:lnTo>
                  <a:lnTo>
                    <a:pt x="1052754" y="251990"/>
                  </a:lnTo>
                  <a:lnTo>
                    <a:pt x="1052754" y="50610"/>
                  </a:lnTo>
                  <a:lnTo>
                    <a:pt x="1048777" y="30910"/>
                  </a:lnTo>
                  <a:lnTo>
                    <a:pt x="1037930" y="14823"/>
                  </a:lnTo>
                  <a:lnTo>
                    <a:pt x="1021843" y="3977"/>
                  </a:lnTo>
                  <a:lnTo>
                    <a:pt x="1002143" y="0"/>
                  </a:lnTo>
                  <a:close/>
                </a:path>
              </a:pathLst>
            </a:custGeom>
            <a:solidFill>
              <a:srgbClr val="E9F5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38616" y="1660997"/>
              <a:ext cx="1052830" cy="302895"/>
            </a:xfrm>
            <a:custGeom>
              <a:avLst/>
              <a:gdLst/>
              <a:ahLst/>
              <a:cxnLst/>
              <a:rect l="l" t="t" r="r" b="b"/>
              <a:pathLst>
                <a:path w="1052829" h="302894">
                  <a:moveTo>
                    <a:pt x="1002143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51990"/>
                  </a:lnTo>
                  <a:lnTo>
                    <a:pt x="3977" y="271691"/>
                  </a:lnTo>
                  <a:lnTo>
                    <a:pt x="14823" y="287778"/>
                  </a:lnTo>
                  <a:lnTo>
                    <a:pt x="30910" y="298624"/>
                  </a:lnTo>
                  <a:lnTo>
                    <a:pt x="50610" y="302601"/>
                  </a:lnTo>
                  <a:lnTo>
                    <a:pt x="1002143" y="302601"/>
                  </a:lnTo>
                  <a:lnTo>
                    <a:pt x="1021843" y="298624"/>
                  </a:lnTo>
                  <a:lnTo>
                    <a:pt x="1037930" y="287778"/>
                  </a:lnTo>
                  <a:lnTo>
                    <a:pt x="1048777" y="271691"/>
                  </a:lnTo>
                  <a:lnTo>
                    <a:pt x="1052754" y="251990"/>
                  </a:lnTo>
                  <a:lnTo>
                    <a:pt x="1052754" y="50610"/>
                  </a:lnTo>
                  <a:lnTo>
                    <a:pt x="1048777" y="30910"/>
                  </a:lnTo>
                  <a:lnTo>
                    <a:pt x="1037930" y="14823"/>
                  </a:lnTo>
                  <a:lnTo>
                    <a:pt x="1021843" y="3977"/>
                  </a:lnTo>
                  <a:lnTo>
                    <a:pt x="1002143" y="0"/>
                  </a:lnTo>
                  <a:close/>
                </a:path>
              </a:pathLst>
            </a:custGeom>
            <a:ln w="5060">
              <a:solidFill>
                <a:srgbClr val="207C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468050" y="1655668"/>
            <a:ext cx="993775" cy="3016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35890" marR="5080" indent="-123825">
              <a:lnSpc>
                <a:spcPct val="101499"/>
              </a:lnSpc>
              <a:spcBef>
                <a:spcPts val="80"/>
              </a:spcBef>
            </a:pPr>
            <a:r>
              <a:rPr sz="900" spc="-50" dirty="0">
                <a:solidFill>
                  <a:srgbClr val="263746"/>
                </a:solidFill>
                <a:latin typeface="Arial"/>
                <a:cs typeface="Arial"/>
              </a:rPr>
              <a:t>Relevance</a:t>
            </a:r>
            <a:r>
              <a:rPr sz="900" spc="-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threshold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and</a:t>
            </a:r>
            <a:r>
              <a:rPr sz="900" spc="-3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abstention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086285" y="1105937"/>
            <a:ext cx="2899410" cy="727075"/>
            <a:chOff x="2086285" y="1105937"/>
            <a:chExt cx="2899410" cy="727075"/>
          </a:xfrm>
        </p:grpSpPr>
        <p:sp>
          <p:nvSpPr>
            <p:cNvPr id="29" name="object 29"/>
            <p:cNvSpPr/>
            <p:nvPr/>
          </p:nvSpPr>
          <p:spPr>
            <a:xfrm>
              <a:off x="2086285" y="112662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>
                  <a:moveTo>
                    <a:pt x="0" y="0"/>
                  </a:moveTo>
                  <a:lnTo>
                    <a:pt x="81569" y="0"/>
                  </a:lnTo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156632" y="111099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72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56632" y="111099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04379" y="112662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>
                  <a:moveTo>
                    <a:pt x="0" y="0"/>
                  </a:moveTo>
                  <a:lnTo>
                    <a:pt x="81569" y="0"/>
                  </a:lnTo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74726" y="111099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72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74726" y="111099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373196" y="1126629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>
                  <a:moveTo>
                    <a:pt x="0" y="0"/>
                  </a:moveTo>
                  <a:lnTo>
                    <a:pt x="81569" y="0"/>
                  </a:lnTo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43542" y="111099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0"/>
                  </a:move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372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43542" y="1110998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15631"/>
                  </a:moveTo>
                  <a:lnTo>
                    <a:pt x="0" y="0"/>
                  </a:lnTo>
                  <a:lnTo>
                    <a:pt x="13753" y="15631"/>
                  </a:lnTo>
                  <a:lnTo>
                    <a:pt x="0" y="31263"/>
                  </a:lnTo>
                  <a:lnTo>
                    <a:pt x="41243" y="15631"/>
                  </a:lnTo>
                  <a:close/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64993" y="1280460"/>
              <a:ext cx="0" cy="334010"/>
            </a:xfrm>
            <a:custGeom>
              <a:avLst/>
              <a:gdLst/>
              <a:ahLst/>
              <a:cxnLst/>
              <a:rect l="l" t="t" r="r" b="b"/>
              <a:pathLst>
                <a:path h="334009">
                  <a:moveTo>
                    <a:pt x="0" y="0"/>
                  </a:moveTo>
                  <a:lnTo>
                    <a:pt x="0" y="333571"/>
                  </a:lnTo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949362" y="160280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31263" y="0"/>
                  </a:move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lnTo>
                    <a:pt x="31263" y="0"/>
                  </a:lnTo>
                  <a:close/>
                </a:path>
              </a:pathLst>
            </a:custGeom>
            <a:solidFill>
              <a:srgbClr val="6372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49362" y="1602809"/>
              <a:ext cx="31750" cy="41275"/>
            </a:xfrm>
            <a:custGeom>
              <a:avLst/>
              <a:gdLst/>
              <a:ahLst/>
              <a:cxnLst/>
              <a:rect l="l" t="t" r="r" b="b"/>
              <a:pathLst>
                <a:path w="31750" h="41275">
                  <a:moveTo>
                    <a:pt x="15631" y="41243"/>
                  </a:moveTo>
                  <a:lnTo>
                    <a:pt x="31263" y="0"/>
                  </a:lnTo>
                  <a:lnTo>
                    <a:pt x="15631" y="13753"/>
                  </a:lnTo>
                  <a:lnTo>
                    <a:pt x="0" y="0"/>
                  </a:lnTo>
                  <a:lnTo>
                    <a:pt x="15631" y="41243"/>
                  </a:lnTo>
                  <a:close/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354516" y="1812298"/>
              <a:ext cx="81915" cy="0"/>
            </a:xfrm>
            <a:custGeom>
              <a:avLst/>
              <a:gdLst/>
              <a:ahLst/>
              <a:cxnLst/>
              <a:rect l="l" t="t" r="r" b="b"/>
              <a:pathLst>
                <a:path w="81914">
                  <a:moveTo>
                    <a:pt x="81569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24495" y="1796666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41243" y="31263"/>
                  </a:moveTo>
                  <a:lnTo>
                    <a:pt x="27490" y="15631"/>
                  </a:lnTo>
                  <a:lnTo>
                    <a:pt x="41243" y="0"/>
                  </a:lnTo>
                  <a:lnTo>
                    <a:pt x="0" y="15631"/>
                  </a:lnTo>
                  <a:lnTo>
                    <a:pt x="41243" y="31263"/>
                  </a:lnTo>
                  <a:close/>
                </a:path>
              </a:pathLst>
            </a:custGeom>
            <a:solidFill>
              <a:srgbClr val="6372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324495" y="1796666"/>
              <a:ext cx="41275" cy="31750"/>
            </a:xfrm>
            <a:custGeom>
              <a:avLst/>
              <a:gdLst/>
              <a:ahLst/>
              <a:cxnLst/>
              <a:rect l="l" t="t" r="r" b="b"/>
              <a:pathLst>
                <a:path w="41275" h="31750">
                  <a:moveTo>
                    <a:pt x="0" y="15631"/>
                  </a:moveTo>
                  <a:lnTo>
                    <a:pt x="41243" y="31263"/>
                  </a:lnTo>
                  <a:lnTo>
                    <a:pt x="27490" y="15631"/>
                  </a:lnTo>
                  <a:lnTo>
                    <a:pt x="41243" y="0"/>
                  </a:lnTo>
                  <a:lnTo>
                    <a:pt x="0" y="15631"/>
                  </a:lnTo>
                  <a:close/>
                </a:path>
              </a:pathLst>
            </a:custGeom>
            <a:ln w="10122">
              <a:solidFill>
                <a:srgbClr val="6372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60514" y="2027760"/>
            <a:ext cx="44386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transcript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is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evidence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source.</a:t>
            </a:r>
            <a:r>
              <a:rPr sz="700" spc="10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Users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can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inspect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45" dirty="0">
                <a:solidFill>
                  <a:srgbClr val="637280"/>
                </a:solidFill>
                <a:latin typeface="Arial"/>
                <a:cs typeface="Arial"/>
              </a:rPr>
              <a:t>passages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verify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them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against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original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recording.</a:t>
            </a:r>
            <a:endParaRPr sz="7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5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77442"/>
            <a:ext cx="21209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Algorithms</a:t>
            </a:r>
            <a:r>
              <a:rPr spc="-35" dirty="0"/>
              <a:t> </a:t>
            </a:r>
            <a:r>
              <a:rPr spc="-30" dirty="0"/>
              <a:t>and</a:t>
            </a:r>
            <a:r>
              <a:rPr spc="-35" dirty="0"/>
              <a:t> </a:t>
            </a:r>
            <a:r>
              <a:rPr spc="-55" dirty="0"/>
              <a:t>models</a:t>
            </a:r>
            <a:r>
              <a:rPr spc="-35" dirty="0"/>
              <a:t> </a:t>
            </a:r>
            <a:r>
              <a:rPr spc="-45" dirty="0"/>
              <a:t>used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9994" y="656577"/>
            <a:ext cx="5041900" cy="0"/>
          </a:xfrm>
          <a:custGeom>
            <a:avLst/>
            <a:gdLst/>
            <a:ahLst/>
            <a:cxnLst/>
            <a:rect l="l" t="t" r="r" b="b"/>
            <a:pathLst>
              <a:path w="5041900">
                <a:moveTo>
                  <a:pt x="0" y="0"/>
                </a:moveTo>
                <a:lnTo>
                  <a:pt x="5041836" y="0"/>
                </a:lnTo>
              </a:path>
            </a:pathLst>
          </a:custGeom>
          <a:ln w="10121">
            <a:solidFill>
              <a:srgbClr val="2637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23214" y="669018"/>
            <a:ext cx="6292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95" dirty="0">
                <a:solidFill>
                  <a:srgbClr val="263746"/>
                </a:solidFill>
                <a:latin typeface="Arial Black"/>
                <a:cs typeface="Arial Black"/>
              </a:rPr>
              <a:t>Component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3854" y="669018"/>
            <a:ext cx="93471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Model</a:t>
            </a:r>
            <a:r>
              <a:rPr sz="900" spc="2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210" dirty="0">
                <a:solidFill>
                  <a:srgbClr val="263746"/>
                </a:solidFill>
                <a:latin typeface="Arial"/>
                <a:cs typeface="Arial"/>
              </a:rPr>
              <a:t>/</a:t>
            </a:r>
            <a:r>
              <a:rPr sz="900" spc="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technique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97222" y="669018"/>
            <a:ext cx="41973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263746"/>
                </a:solidFill>
                <a:latin typeface="Arial"/>
                <a:cs typeface="Arial"/>
              </a:rPr>
              <a:t>Purpose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9994" y="863003"/>
            <a:ext cx="5041900" cy="0"/>
          </a:xfrm>
          <a:custGeom>
            <a:avLst/>
            <a:gdLst/>
            <a:ahLst/>
            <a:cxnLst/>
            <a:rect l="l" t="t" r="r" b="b"/>
            <a:pathLst>
              <a:path w="5041900">
                <a:moveTo>
                  <a:pt x="0" y="0"/>
                </a:moveTo>
                <a:lnTo>
                  <a:pt x="5041836" y="0"/>
                </a:lnTo>
              </a:path>
            </a:pathLst>
          </a:custGeom>
          <a:ln w="6324">
            <a:solidFill>
              <a:srgbClr val="2637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3214" y="873551"/>
            <a:ext cx="10166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30" dirty="0">
                <a:solidFill>
                  <a:srgbClr val="263746"/>
                </a:solidFill>
                <a:latin typeface="Arial Black"/>
                <a:cs typeface="Arial Black"/>
              </a:rPr>
              <a:t>Speech</a:t>
            </a:r>
            <a:r>
              <a:rPr sz="900" spc="7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900" spc="-100" dirty="0">
                <a:solidFill>
                  <a:srgbClr val="263746"/>
                </a:solidFill>
                <a:latin typeface="Arial Black"/>
                <a:cs typeface="Arial Black"/>
              </a:rPr>
              <a:t>recognition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3854" y="873551"/>
            <a:ext cx="14782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Whisper</a:t>
            </a:r>
            <a:r>
              <a:rPr sz="900" spc="10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via</a:t>
            </a:r>
            <a:r>
              <a:rPr sz="900" spc="11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Century"/>
                <a:cs typeface="Century"/>
              </a:rPr>
              <a:t>faster-</a:t>
            </a:r>
            <a:r>
              <a:rPr sz="900" spc="-10" dirty="0">
                <a:solidFill>
                  <a:srgbClr val="263746"/>
                </a:solidFill>
                <a:latin typeface="Century"/>
                <a:cs typeface="Century"/>
              </a:rPr>
              <a:t>whisper</a:t>
            </a:r>
            <a:endParaRPr sz="9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3214" y="1291089"/>
            <a:ext cx="1134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5960" algn="l"/>
              </a:tabLst>
            </a:pPr>
            <a:r>
              <a:rPr sz="900" spc="-10" dirty="0">
                <a:solidFill>
                  <a:srgbClr val="263746"/>
                </a:solidFill>
                <a:latin typeface="Arial Black"/>
                <a:cs typeface="Arial Black"/>
              </a:rPr>
              <a:t>Transcript</a:t>
            </a:r>
            <a:r>
              <a:rPr sz="900" dirty="0">
                <a:solidFill>
                  <a:srgbClr val="263746"/>
                </a:solidFill>
                <a:latin typeface="Arial Black"/>
                <a:cs typeface="Arial Black"/>
              </a:rPr>
              <a:t>	</a:t>
            </a:r>
            <a:r>
              <a:rPr sz="900" spc="-90" dirty="0">
                <a:solidFill>
                  <a:srgbClr val="263746"/>
                </a:solidFill>
                <a:latin typeface="Arial Black"/>
                <a:cs typeface="Arial Black"/>
              </a:rPr>
              <a:t>prepara-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3214" y="1430268"/>
            <a:ext cx="22732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65" dirty="0">
                <a:solidFill>
                  <a:srgbClr val="263746"/>
                </a:solidFill>
                <a:latin typeface="Arial Black"/>
                <a:cs typeface="Arial Black"/>
              </a:rPr>
              <a:t>tion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3214" y="1569448"/>
            <a:ext cx="948055" cy="718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20" dirty="0">
                <a:solidFill>
                  <a:srgbClr val="263746"/>
                </a:solidFill>
                <a:latin typeface="Arial Black"/>
                <a:cs typeface="Arial Black"/>
              </a:rPr>
              <a:t>Evidence</a:t>
            </a:r>
            <a:r>
              <a:rPr sz="900" spc="8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900" spc="-90" dirty="0">
                <a:solidFill>
                  <a:srgbClr val="263746"/>
                </a:solidFill>
                <a:latin typeface="Arial Black"/>
                <a:cs typeface="Arial Black"/>
              </a:rPr>
              <a:t>retrieval</a:t>
            </a:r>
            <a:endParaRPr sz="900">
              <a:latin typeface="Arial Black"/>
              <a:cs typeface="Arial Black"/>
            </a:endParaRPr>
          </a:p>
          <a:p>
            <a:pPr marL="12700" marR="200025">
              <a:lnSpc>
                <a:spcPct val="202900"/>
              </a:lnSpc>
            </a:pPr>
            <a:r>
              <a:rPr sz="900" spc="-10" dirty="0">
                <a:solidFill>
                  <a:srgbClr val="263746"/>
                </a:solidFill>
                <a:latin typeface="Arial Black"/>
                <a:cs typeface="Arial Black"/>
              </a:rPr>
              <a:t>Answering </a:t>
            </a:r>
            <a:r>
              <a:rPr sz="900" spc="-120" dirty="0">
                <a:solidFill>
                  <a:srgbClr val="263746"/>
                </a:solidFill>
                <a:latin typeface="Arial Black"/>
                <a:cs typeface="Arial Black"/>
              </a:rPr>
              <a:t>Evidence</a:t>
            </a:r>
            <a:r>
              <a:rPr sz="900" spc="8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900" spc="-114" dirty="0">
                <a:solidFill>
                  <a:srgbClr val="263746"/>
                </a:solidFill>
                <a:latin typeface="Arial Black"/>
                <a:cs typeface="Arial Black"/>
              </a:rPr>
              <a:t>gate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83854" y="1291089"/>
            <a:ext cx="1487170" cy="11366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Text</a:t>
            </a:r>
            <a:r>
              <a:rPr sz="900" spc="16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normalization</a:t>
            </a:r>
            <a:r>
              <a:rPr sz="900" spc="16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and</a:t>
            </a:r>
            <a:r>
              <a:rPr sz="900" spc="16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40" dirty="0">
                <a:solidFill>
                  <a:srgbClr val="263746"/>
                </a:solidFill>
                <a:latin typeface="Arial"/>
                <a:cs typeface="Arial"/>
              </a:rPr>
              <a:t>seg-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mentation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</a:pP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Text</a:t>
            </a:r>
            <a:r>
              <a:rPr sz="900" spc="33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relevance</a:t>
            </a:r>
            <a:r>
              <a:rPr sz="900" spc="33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scoring</a:t>
            </a:r>
            <a:r>
              <a:rPr sz="900" spc="34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and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ranking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tabLst>
                <a:tab pos="1057275" algn="l"/>
              </a:tabLst>
            </a:pPr>
            <a:r>
              <a:rPr sz="900" spc="-35" dirty="0">
                <a:solidFill>
                  <a:srgbClr val="263746"/>
                </a:solidFill>
                <a:latin typeface="Arial"/>
                <a:cs typeface="Arial"/>
              </a:rPr>
              <a:t>Retrieval-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grounded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	</a:t>
            </a:r>
            <a:r>
              <a:rPr sz="900" spc="-65" dirty="0">
                <a:solidFill>
                  <a:srgbClr val="263746"/>
                </a:solidFill>
                <a:latin typeface="Arial"/>
                <a:cs typeface="Arial"/>
              </a:rPr>
              <a:t>response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 construction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</a:pPr>
            <a:r>
              <a:rPr sz="900" spc="-45" dirty="0">
                <a:solidFill>
                  <a:srgbClr val="263746"/>
                </a:solidFill>
                <a:latin typeface="Arial"/>
                <a:cs typeface="Arial"/>
              </a:rPr>
              <a:t>Relevance</a:t>
            </a:r>
            <a:r>
              <a:rPr sz="900" spc="1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threshold</a:t>
            </a:r>
            <a:r>
              <a:rPr sz="900" spc="1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and</a:t>
            </a:r>
            <a:r>
              <a:rPr sz="900" spc="1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ab-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stention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97250" y="873551"/>
            <a:ext cx="2042160" cy="155384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Pretrained</a:t>
            </a:r>
            <a:r>
              <a:rPr sz="900" spc="190" dirty="0">
                <a:solidFill>
                  <a:srgbClr val="263746"/>
                </a:solidFill>
                <a:latin typeface="Arial"/>
                <a:cs typeface="Arial"/>
              </a:rPr>
              <a:t>  </a:t>
            </a:r>
            <a:r>
              <a:rPr sz="900" spc="-60" dirty="0">
                <a:solidFill>
                  <a:srgbClr val="263746"/>
                </a:solidFill>
                <a:latin typeface="Arial"/>
                <a:cs typeface="Arial"/>
              </a:rPr>
              <a:t>deep-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learning</a:t>
            </a:r>
            <a:r>
              <a:rPr sz="900" spc="195" dirty="0">
                <a:solidFill>
                  <a:srgbClr val="263746"/>
                </a:solidFill>
                <a:latin typeface="Arial"/>
                <a:cs typeface="Arial"/>
              </a:rPr>
              <a:t> 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Transformer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converts</a:t>
            </a:r>
            <a:r>
              <a:rPr sz="900" spc="13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speech</a:t>
            </a:r>
            <a:r>
              <a:rPr sz="900" spc="14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into</a:t>
            </a:r>
            <a:r>
              <a:rPr sz="900" spc="14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text</a:t>
            </a:r>
            <a:r>
              <a:rPr sz="900" spc="14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with</a:t>
            </a:r>
            <a:r>
              <a:rPr sz="900" spc="14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63746"/>
                </a:solidFill>
                <a:latin typeface="Arial"/>
                <a:cs typeface="Arial"/>
              </a:rPr>
              <a:t>segment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timing.</a:t>
            </a:r>
            <a:endParaRPr sz="900">
              <a:latin typeface="Arial"/>
              <a:cs typeface="Arial"/>
            </a:endParaRPr>
          </a:p>
          <a:p>
            <a:pPr marL="12700" marR="5080" algn="just">
              <a:lnSpc>
                <a:spcPct val="101499"/>
              </a:lnSpc>
            </a:pP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Organizes</a:t>
            </a:r>
            <a:r>
              <a:rPr sz="900" spc="28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transcript</a:t>
            </a:r>
            <a:r>
              <a:rPr sz="900" spc="28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into</a:t>
            </a:r>
            <a:r>
              <a:rPr sz="900" spc="29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263746"/>
                </a:solidFill>
                <a:latin typeface="Arial"/>
                <a:cs typeface="Arial"/>
              </a:rPr>
              <a:t>timestamped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passages.</a:t>
            </a:r>
            <a:endParaRPr sz="9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Finds</a:t>
            </a:r>
            <a:r>
              <a:rPr sz="900" spc="2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63746"/>
                </a:solidFill>
                <a:latin typeface="Arial"/>
                <a:cs typeface="Arial"/>
              </a:rPr>
              <a:t>passages</a:t>
            </a:r>
            <a:r>
              <a:rPr sz="900" spc="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related</a:t>
            </a:r>
            <a:r>
              <a:rPr sz="900" spc="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to</a:t>
            </a:r>
            <a:r>
              <a:rPr sz="900" spc="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the</a:t>
            </a:r>
            <a:r>
              <a:rPr sz="900" spc="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question.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900">
              <a:latin typeface="Arial"/>
              <a:cs typeface="Arial"/>
            </a:endParaRPr>
          </a:p>
          <a:p>
            <a:pPr marL="12700" marR="5080" algn="just">
              <a:lnSpc>
                <a:spcPct val="101499"/>
              </a:lnSpc>
            </a:pP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Presents</a:t>
            </a:r>
            <a:r>
              <a:rPr sz="900" spc="12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responses</a:t>
            </a:r>
            <a:r>
              <a:rPr sz="900" spc="1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based</a:t>
            </a:r>
            <a:r>
              <a:rPr sz="900" spc="12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on</a:t>
            </a:r>
            <a:r>
              <a:rPr sz="900" spc="12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retrieved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transcript</a:t>
            </a:r>
            <a:r>
              <a:rPr sz="900" spc="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excerpts.</a:t>
            </a:r>
            <a:endParaRPr sz="900">
              <a:latin typeface="Arial"/>
              <a:cs typeface="Arial"/>
            </a:endParaRPr>
          </a:p>
          <a:p>
            <a:pPr marL="12700" marR="5080" algn="just">
              <a:lnSpc>
                <a:spcPct val="101499"/>
              </a:lnSpc>
            </a:pPr>
            <a:r>
              <a:rPr sz="900" spc="-35" dirty="0">
                <a:solidFill>
                  <a:srgbClr val="263746"/>
                </a:solidFill>
                <a:latin typeface="Arial"/>
                <a:cs typeface="Arial"/>
              </a:rPr>
              <a:t>Declines</a:t>
            </a:r>
            <a:r>
              <a:rPr sz="900" spc="-30" dirty="0">
                <a:solidFill>
                  <a:srgbClr val="263746"/>
                </a:solidFill>
                <a:latin typeface="Arial"/>
                <a:cs typeface="Arial"/>
              </a:rPr>
              <a:t> when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no</a:t>
            </a:r>
            <a:r>
              <a:rPr sz="900" spc="-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75" dirty="0">
                <a:solidFill>
                  <a:srgbClr val="263746"/>
                </a:solidFill>
                <a:latin typeface="Arial"/>
                <a:cs typeface="Arial"/>
              </a:rPr>
              <a:t>passage</a:t>
            </a:r>
            <a:r>
              <a:rPr sz="900" spc="1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35" dirty="0">
                <a:solidFill>
                  <a:srgbClr val="263746"/>
                </a:solidFill>
                <a:latin typeface="Arial"/>
                <a:cs typeface="Arial"/>
              </a:rPr>
              <a:t>meets</a:t>
            </a:r>
            <a:r>
              <a:rPr sz="900" spc="-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263746"/>
                </a:solidFill>
                <a:latin typeface="Arial"/>
                <a:cs typeface="Arial"/>
              </a:rPr>
              <a:t>the</a:t>
            </a:r>
            <a:r>
              <a:rPr sz="900" spc="-1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263746"/>
                </a:solidFill>
                <a:latin typeface="Arial"/>
                <a:cs typeface="Arial"/>
              </a:rPr>
              <a:t>con-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figured</a:t>
            </a:r>
            <a:r>
              <a:rPr sz="900" spc="-4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263746"/>
                </a:solidFill>
                <a:latin typeface="Arial"/>
                <a:cs typeface="Arial"/>
              </a:rPr>
              <a:t>threshold.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9994" y="2461209"/>
            <a:ext cx="5041900" cy="0"/>
          </a:xfrm>
          <a:custGeom>
            <a:avLst/>
            <a:gdLst/>
            <a:ahLst/>
            <a:cxnLst/>
            <a:rect l="l" t="t" r="r" b="b"/>
            <a:pathLst>
              <a:path w="5041900">
                <a:moveTo>
                  <a:pt x="0" y="0"/>
                </a:moveTo>
                <a:lnTo>
                  <a:pt x="5041836" y="0"/>
                </a:lnTo>
              </a:path>
            </a:pathLst>
          </a:custGeom>
          <a:ln w="10121">
            <a:solidFill>
              <a:srgbClr val="2637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47294" y="2439164"/>
            <a:ext cx="5053330" cy="361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Describe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retrieval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score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by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its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exact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implementation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in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current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source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code.</a:t>
            </a:r>
            <a:r>
              <a:rPr sz="700" spc="114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Do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not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claim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BERT,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GPT,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Random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Forest,</a:t>
            </a:r>
            <a:endParaRPr sz="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or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trained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QA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model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unless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it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is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actually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implemented.</a:t>
            </a:r>
            <a:endParaRPr sz="7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6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77442"/>
            <a:ext cx="22809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Deep-</a:t>
            </a:r>
            <a:r>
              <a:rPr spc="-45" dirty="0"/>
              <a:t>learning</a:t>
            </a:r>
            <a:r>
              <a:rPr spc="-65" dirty="0"/>
              <a:t> </a:t>
            </a:r>
            <a:r>
              <a:rPr spc="-35" dirty="0"/>
              <a:t>model:</a:t>
            </a:r>
            <a:r>
              <a:rPr spc="50" dirty="0"/>
              <a:t> </a:t>
            </a:r>
            <a:r>
              <a:rPr spc="-10" dirty="0"/>
              <a:t>Whisper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564661"/>
            <a:ext cx="2821305" cy="143002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100" dirty="0">
                <a:solidFill>
                  <a:srgbClr val="263746"/>
                </a:solidFill>
                <a:latin typeface="Arial Black"/>
                <a:cs typeface="Arial Black"/>
              </a:rPr>
              <a:t>Whisper’s</a:t>
            </a:r>
            <a:r>
              <a:rPr sz="1000" spc="8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Arial Black"/>
                <a:cs typeface="Arial Black"/>
              </a:rPr>
              <a:t>role</a:t>
            </a:r>
            <a:endParaRPr sz="1000">
              <a:latin typeface="Arial Black"/>
              <a:cs typeface="Arial Black"/>
            </a:endParaRPr>
          </a:p>
          <a:p>
            <a:pPr marL="176530" marR="196215" indent="-121920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60" dirty="0">
                <a:solidFill>
                  <a:srgbClr val="263746"/>
                </a:solidFill>
                <a:latin typeface="Tahoma"/>
                <a:cs typeface="Tahoma"/>
              </a:rPr>
              <a:t>A</a:t>
            </a:r>
            <a:r>
              <a:rPr sz="1000" spc="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pretrained</a:t>
            </a:r>
            <a:r>
              <a:rPr sz="1000" spc="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encoder–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decoder</a:t>
            </a:r>
            <a:r>
              <a:rPr sz="1000" spc="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Transformer</a:t>
            </a:r>
            <a:r>
              <a:rPr sz="1000" spc="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for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automatic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solidFill>
                  <a:srgbClr val="263746"/>
                </a:solidFill>
                <a:latin typeface="Tahoma"/>
                <a:cs typeface="Tahoma"/>
              </a:rPr>
              <a:t>speech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recognition.</a:t>
            </a:r>
            <a:endParaRPr sz="1000">
              <a:latin typeface="Tahoma"/>
              <a:cs typeface="Tahoma"/>
            </a:endParaRPr>
          </a:p>
          <a:p>
            <a:pPr marL="176530" indent="-121285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Converts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lecture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audio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into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text.</a:t>
            </a:r>
            <a:endParaRPr sz="1000">
              <a:latin typeface="Tahoma"/>
              <a:cs typeface="Tahoma"/>
            </a:endParaRPr>
          </a:p>
          <a:p>
            <a:pPr marL="176530" marR="34925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Provides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time-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aligned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segments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for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the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transcript interface.</a:t>
            </a:r>
            <a:endParaRPr sz="1000">
              <a:latin typeface="Tahoma"/>
              <a:cs typeface="Tahoma"/>
            </a:endParaRPr>
          </a:p>
          <a:p>
            <a:pPr marL="176530" marR="5080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90" dirty="0">
                <a:solidFill>
                  <a:srgbClr val="263746"/>
                </a:solidFill>
                <a:latin typeface="Calibri"/>
                <a:cs typeface="Calibri"/>
              </a:rPr>
              <a:t>faster-</a:t>
            </a:r>
            <a:r>
              <a:rPr sz="1000" spc="110" dirty="0">
                <a:solidFill>
                  <a:srgbClr val="263746"/>
                </a:solidFill>
                <a:latin typeface="Calibri"/>
                <a:cs typeface="Calibri"/>
              </a:rPr>
              <a:t>whisper</a:t>
            </a:r>
            <a:r>
              <a:rPr sz="1000" spc="55" dirty="0">
                <a:solidFill>
                  <a:srgbClr val="26374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is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an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optimized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implementation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for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running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Whisper.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92233" y="729894"/>
          <a:ext cx="2049780" cy="17697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9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marL="41910">
                        <a:lnSpc>
                          <a:spcPts val="1400"/>
                        </a:lnSpc>
                      </a:pPr>
                      <a:r>
                        <a:rPr sz="1200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Processing</a:t>
                      </a:r>
                      <a:r>
                        <a:rPr sz="1200" spc="-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path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17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Audio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i="1" spc="-50" dirty="0">
                          <a:solidFill>
                            <a:srgbClr val="263746"/>
                          </a:solidFill>
                          <a:latin typeface="Arial"/>
                          <a:cs typeface="Arial"/>
                        </a:rPr>
                        <a:t>↓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Whisper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inference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i="1" spc="-50" dirty="0">
                          <a:solidFill>
                            <a:srgbClr val="263746"/>
                          </a:solidFill>
                          <a:latin typeface="Arial"/>
                          <a:cs typeface="Arial"/>
                        </a:rPr>
                        <a:t>↓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Text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+</a:t>
                      </a:r>
                      <a:r>
                        <a:rPr sz="1000" spc="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timestamps</a:t>
                      </a:r>
                      <a:endParaRPr sz="1000">
                        <a:latin typeface="Tahoma"/>
                        <a:cs typeface="Tahoma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000" i="1" spc="-50" dirty="0">
                          <a:solidFill>
                            <a:srgbClr val="263746"/>
                          </a:solidFill>
                          <a:latin typeface="Arial"/>
                          <a:cs typeface="Arial"/>
                        </a:rPr>
                        <a:t>↓</a:t>
                      </a:r>
                      <a:endParaRPr sz="10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Evidence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index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47294" y="2559550"/>
            <a:ext cx="499300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solidFill>
                  <a:srgbClr val="263746"/>
                </a:solidFill>
                <a:latin typeface="Arial Black"/>
                <a:cs typeface="Arial Black"/>
              </a:rPr>
              <a:t>Model</a:t>
            </a:r>
            <a:r>
              <a:rPr sz="1000" spc="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20" dirty="0">
                <a:solidFill>
                  <a:srgbClr val="263746"/>
                </a:solidFill>
                <a:latin typeface="Arial Black"/>
                <a:cs typeface="Arial Black"/>
              </a:rPr>
              <a:t>choice:</a:t>
            </a:r>
            <a:r>
              <a:rPr sz="1000" spc="8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135" dirty="0">
                <a:solidFill>
                  <a:srgbClr val="263746"/>
                </a:solidFill>
                <a:latin typeface="Calibri"/>
                <a:cs typeface="Calibri"/>
              </a:rPr>
              <a:t>tiny</a:t>
            </a:r>
            <a:r>
              <a:rPr sz="1000" spc="85" dirty="0">
                <a:solidFill>
                  <a:srgbClr val="26374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is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faster;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Calibri"/>
                <a:cs typeface="Calibri"/>
              </a:rPr>
              <a:t>base</a:t>
            </a:r>
            <a:r>
              <a:rPr sz="1000" spc="85" dirty="0">
                <a:solidFill>
                  <a:srgbClr val="263746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or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larger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models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may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improve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recognition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but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65" dirty="0">
                <a:solidFill>
                  <a:srgbClr val="263746"/>
                </a:solidFill>
                <a:latin typeface="Tahoma"/>
                <a:cs typeface="Tahoma"/>
              </a:rPr>
              <a:t>need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more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time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and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resources.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7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77442"/>
            <a:ext cx="27736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How</a:t>
            </a:r>
            <a:r>
              <a:rPr spc="5" dirty="0"/>
              <a:t> </a:t>
            </a:r>
            <a:r>
              <a:rPr spc="-75" dirty="0"/>
              <a:t>evidence-</a:t>
            </a:r>
            <a:r>
              <a:rPr spc="-65" dirty="0"/>
              <a:t>based</a:t>
            </a:r>
            <a:r>
              <a:rPr spc="15" dirty="0"/>
              <a:t> </a:t>
            </a:r>
            <a:r>
              <a:rPr spc="-75" dirty="0"/>
              <a:t>answering</a:t>
            </a:r>
            <a:r>
              <a:rPr spc="10" dirty="0"/>
              <a:t> </a:t>
            </a:r>
            <a:r>
              <a:rPr spc="-45" dirty="0"/>
              <a:t>works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50075" y="828541"/>
            <a:ext cx="4925060" cy="97472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73355" indent="-160655">
              <a:lnSpc>
                <a:spcPct val="100000"/>
              </a:lnSpc>
              <a:spcBef>
                <a:spcPts val="395"/>
              </a:spcBef>
              <a:buClr>
                <a:srgbClr val="3578B8"/>
              </a:buClr>
              <a:buAutoNum type="arabicPeriod"/>
              <a:tabLst>
                <a:tab pos="173355" algn="l"/>
              </a:tabLst>
            </a:pP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learner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enters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a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question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about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selected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lecture.</a:t>
            </a:r>
            <a:endParaRPr sz="1000">
              <a:latin typeface="Tahoma"/>
              <a:cs typeface="Tahoma"/>
            </a:endParaRPr>
          </a:p>
          <a:p>
            <a:pPr marL="17335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3355" algn="l"/>
              </a:tabLst>
            </a:pP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application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scores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transcript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segments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for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relevance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to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the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question.</a:t>
            </a:r>
            <a:endParaRPr sz="1000">
              <a:latin typeface="Tahoma"/>
              <a:cs typeface="Tahoma"/>
            </a:endParaRPr>
          </a:p>
          <a:p>
            <a:pPr marL="173355" indent="-160655">
              <a:lnSpc>
                <a:spcPct val="100000"/>
              </a:lnSpc>
              <a:spcBef>
                <a:spcPts val="290"/>
              </a:spcBef>
              <a:buClr>
                <a:srgbClr val="3578B8"/>
              </a:buClr>
              <a:buAutoNum type="arabicPeriod"/>
              <a:tabLst>
                <a:tab pos="173355" algn="l"/>
              </a:tabLst>
            </a:pP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The 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highest-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ranked</a:t>
            </a:r>
            <a:r>
              <a:rPr sz="1000" spc="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passages</a:t>
            </a:r>
            <a:r>
              <a:rPr sz="1000" spc="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are</a:t>
            </a:r>
            <a:r>
              <a:rPr sz="1000" spc="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selected.</a:t>
            </a:r>
            <a:endParaRPr sz="1000">
              <a:latin typeface="Tahoma"/>
              <a:cs typeface="Tahoma"/>
            </a:endParaRPr>
          </a:p>
          <a:p>
            <a:pPr marL="17335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3355" algn="l"/>
              </a:tabLst>
            </a:pPr>
            <a:r>
              <a:rPr sz="1000" spc="60" dirty="0">
                <a:solidFill>
                  <a:srgbClr val="263746"/>
                </a:solidFill>
                <a:latin typeface="Tahoma"/>
                <a:cs typeface="Tahoma"/>
              </a:rPr>
              <a:t>A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minimum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relevance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threshold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filters </a:t>
            </a:r>
            <a:r>
              <a:rPr sz="1000" spc="-60" dirty="0">
                <a:solidFill>
                  <a:srgbClr val="263746"/>
                </a:solidFill>
                <a:latin typeface="Tahoma"/>
                <a:cs typeface="Tahoma"/>
              </a:rPr>
              <a:t>weak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matches.</a:t>
            </a:r>
            <a:endParaRPr sz="1000">
              <a:latin typeface="Tahoma"/>
              <a:cs typeface="Tahoma"/>
            </a:endParaRPr>
          </a:p>
          <a:p>
            <a:pPr marL="17335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3355" algn="l"/>
              </a:tabLst>
            </a:pP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application </a:t>
            </a:r>
            <a:r>
              <a:rPr sz="1000" spc="-65" dirty="0">
                <a:solidFill>
                  <a:srgbClr val="263746"/>
                </a:solidFill>
                <a:latin typeface="Tahoma"/>
                <a:cs typeface="Tahoma"/>
              </a:rPr>
              <a:t>shows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the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answer,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excerpts,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timestamps,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and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source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links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60" dirty="0">
                <a:solidFill>
                  <a:srgbClr val="263746"/>
                </a:solidFill>
                <a:latin typeface="Tahoma"/>
                <a:cs typeface="Tahoma"/>
              </a:rPr>
              <a:t>when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available.</a:t>
            </a:r>
            <a:endParaRPr sz="1000">
              <a:latin typeface="Tahoma"/>
              <a:cs typeface="Tahom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7830" y="1916010"/>
          <a:ext cx="5124450" cy="566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marL="41910">
                        <a:lnSpc>
                          <a:spcPts val="1400"/>
                        </a:lnSpc>
                      </a:pPr>
                      <a:r>
                        <a:rPr sz="1200" spc="-5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Important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distinction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17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41910" marR="8572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6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4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relevance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score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4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ranks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candidate </a:t>
                      </a:r>
                      <a:r>
                        <a:rPr sz="10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passages.</a:t>
                      </a:r>
                      <a:r>
                        <a:rPr sz="1000" spc="7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It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not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calibrated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probability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that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answer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is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correct.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8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Application</a:t>
            </a:r>
            <a:r>
              <a:rPr spc="-65" dirty="0"/>
              <a:t> </a:t>
            </a:r>
            <a:r>
              <a:rPr spc="-6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644" y="558932"/>
            <a:ext cx="3889459" cy="216171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647" y="2619377"/>
            <a:ext cx="4475480" cy="320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6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Streamlit</a:t>
            </a:r>
            <a:r>
              <a:rPr sz="700" spc="6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interface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brings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lecture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input,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question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answering,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transcript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preview,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evidence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inspection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into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one</a:t>
            </a:r>
            <a:r>
              <a:rPr sz="700" spc="4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workflow.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20" dirty="0"/>
              <a:t>9</a:t>
            </a:fld>
            <a:r>
              <a:rPr spc="-2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Lecture</a:t>
            </a:r>
            <a:r>
              <a:rPr spc="-55" dirty="0"/>
              <a:t> </a:t>
            </a:r>
            <a:r>
              <a:rPr spc="-45" dirty="0"/>
              <a:t>upload</a:t>
            </a:r>
            <a:r>
              <a:rPr spc="-50" dirty="0"/>
              <a:t> </a:t>
            </a:r>
            <a:r>
              <a:rPr spc="-30" dirty="0"/>
              <a:t>and</a:t>
            </a:r>
            <a:r>
              <a:rPr spc="-50" dirty="0"/>
              <a:t> </a:t>
            </a:r>
            <a:r>
              <a:rPr spc="-40" dirty="0"/>
              <a:t>video</a:t>
            </a:r>
            <a:r>
              <a:rPr spc="-50" dirty="0"/>
              <a:t> </a:t>
            </a:r>
            <a:r>
              <a:rPr spc="-40" dirty="0"/>
              <a:t>playback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862" y="558917"/>
            <a:ext cx="3922465" cy="21616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10793" y="2619301"/>
            <a:ext cx="4565650" cy="320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local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video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can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35" dirty="0">
                <a:solidFill>
                  <a:srgbClr val="637280"/>
                </a:solidFill>
                <a:latin typeface="Arial"/>
                <a:cs typeface="Arial"/>
              </a:rPr>
              <a:t>be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selected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viewed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before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transcription.</a:t>
            </a:r>
            <a:r>
              <a:rPr sz="700" spc="10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Supported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formats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depend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on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installed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media-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decoding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libraries.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10" dirty="0"/>
              <a:t>10</a:t>
            </a:fld>
            <a:r>
              <a:rPr spc="-1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294" y="77442"/>
            <a:ext cx="310832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17324C"/>
                </a:solidFill>
                <a:latin typeface="Tahoma"/>
                <a:cs typeface="Tahoma"/>
              </a:rPr>
              <a:t>Transcription</a:t>
            </a:r>
            <a:r>
              <a:rPr sz="1400" spc="-25" dirty="0">
                <a:solidFill>
                  <a:srgbClr val="17324C"/>
                </a:solidFill>
                <a:latin typeface="Tahoma"/>
                <a:cs typeface="Tahoma"/>
              </a:rPr>
              <a:t> </a:t>
            </a:r>
            <a:r>
              <a:rPr sz="1400" spc="-30" dirty="0">
                <a:solidFill>
                  <a:srgbClr val="17324C"/>
                </a:solidFill>
                <a:latin typeface="Tahoma"/>
                <a:cs typeface="Tahoma"/>
              </a:rPr>
              <a:t>and</a:t>
            </a:r>
            <a:r>
              <a:rPr sz="1400" spc="-20" dirty="0">
                <a:solidFill>
                  <a:srgbClr val="17324C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17324C"/>
                </a:solidFill>
                <a:latin typeface="Tahoma"/>
                <a:cs typeface="Tahoma"/>
              </a:rPr>
              <a:t>timestamped</a:t>
            </a:r>
            <a:r>
              <a:rPr sz="1400" spc="-20" dirty="0">
                <a:solidFill>
                  <a:srgbClr val="17324C"/>
                </a:solidFill>
                <a:latin typeface="Tahoma"/>
                <a:cs typeface="Tahoma"/>
              </a:rPr>
              <a:t> </a:t>
            </a:r>
            <a:r>
              <a:rPr sz="1400" spc="-10" dirty="0">
                <a:solidFill>
                  <a:srgbClr val="17324C"/>
                </a:solidFill>
                <a:latin typeface="Tahoma"/>
                <a:cs typeface="Tahoma"/>
              </a:rPr>
              <a:t>transcript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864735"/>
            <a:ext cx="13322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10" dirty="0">
                <a:solidFill>
                  <a:srgbClr val="263746"/>
                </a:solidFill>
                <a:latin typeface="Arial Black"/>
                <a:cs typeface="Arial Black"/>
              </a:rPr>
              <a:t>Transcription</a:t>
            </a:r>
            <a:r>
              <a:rPr sz="1000" spc="4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35" dirty="0">
                <a:solidFill>
                  <a:srgbClr val="263746"/>
                </a:solidFill>
                <a:latin typeface="Arial Black"/>
                <a:cs typeface="Arial Black"/>
              </a:rPr>
              <a:t>workflow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17672" y="864735"/>
            <a:ext cx="10883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20" dirty="0">
                <a:solidFill>
                  <a:srgbClr val="263746"/>
                </a:solidFill>
                <a:latin typeface="Arial Black"/>
                <a:cs typeface="Arial Black"/>
              </a:rPr>
              <a:t>Transcript</a:t>
            </a:r>
            <a:r>
              <a:rPr sz="1000" spc="9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25" dirty="0">
                <a:solidFill>
                  <a:srgbClr val="263746"/>
                </a:solidFill>
                <a:latin typeface="Arial Black"/>
                <a:cs typeface="Arial Black"/>
              </a:rPr>
              <a:t>preview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1077209"/>
            <a:ext cx="2469474" cy="138022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0461" y="1077203"/>
            <a:ext cx="2469474" cy="1364777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10" dirty="0"/>
              <a:t>11</a:t>
            </a:fld>
            <a:r>
              <a:rPr spc="-1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Question</a:t>
            </a:r>
            <a:r>
              <a:rPr spc="-70" dirty="0"/>
              <a:t> </a:t>
            </a:r>
            <a:r>
              <a:rPr spc="-65" dirty="0"/>
              <a:t>answering</a:t>
            </a:r>
            <a:r>
              <a:rPr spc="-45" dirty="0"/>
              <a:t> </a:t>
            </a:r>
            <a:r>
              <a:rPr dirty="0"/>
              <a:t>with</a:t>
            </a:r>
            <a:r>
              <a:rPr spc="-55" dirty="0"/>
              <a:t> </a:t>
            </a:r>
            <a:r>
              <a:rPr spc="-30" dirty="0"/>
              <a:t>visible</a:t>
            </a:r>
            <a:r>
              <a:rPr spc="-55" dirty="0"/>
              <a:t> evidence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57" y="882815"/>
            <a:ext cx="2923032" cy="162458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522522" y="793464"/>
            <a:ext cx="1836420" cy="153225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60" dirty="0">
                <a:solidFill>
                  <a:srgbClr val="263746"/>
                </a:solidFill>
                <a:latin typeface="Arial Black"/>
                <a:cs typeface="Arial Black"/>
              </a:rPr>
              <a:t>What</a:t>
            </a:r>
            <a:r>
              <a:rPr sz="1000" spc="-2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Arial Black"/>
                <a:cs typeface="Arial Black"/>
              </a:rPr>
              <a:t>to</a:t>
            </a:r>
            <a:r>
              <a:rPr sz="1000" spc="-1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Arial Black"/>
                <a:cs typeface="Arial Black"/>
              </a:rPr>
              <a:t>inspect</a:t>
            </a:r>
            <a:endParaRPr sz="1000">
              <a:latin typeface="Arial Black"/>
              <a:cs typeface="Arial Black"/>
            </a:endParaRPr>
          </a:p>
          <a:p>
            <a:pPr marL="176530" indent="-121285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Question and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answer</a:t>
            </a:r>
            <a:endParaRPr sz="1000">
              <a:latin typeface="Tahoma"/>
              <a:cs typeface="Tahoma"/>
            </a:endParaRPr>
          </a:p>
          <a:p>
            <a:pPr marL="176530" indent="-121285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Supporting</a:t>
            </a:r>
            <a:r>
              <a:rPr sz="1000" spc="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transcript</a:t>
            </a:r>
            <a:r>
              <a:rPr sz="1000" spc="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excerpts</a:t>
            </a:r>
            <a:endParaRPr sz="1000">
              <a:latin typeface="Tahoma"/>
              <a:cs typeface="Tahoma"/>
            </a:endParaRPr>
          </a:p>
          <a:p>
            <a:pPr marL="176530" indent="-121285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Start/end</a:t>
            </a:r>
            <a:r>
              <a:rPr sz="1000" spc="-6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timestamps</a:t>
            </a:r>
            <a:endParaRPr sz="1000">
              <a:latin typeface="Tahoma"/>
              <a:cs typeface="Tahoma"/>
            </a:endParaRPr>
          </a:p>
          <a:p>
            <a:pPr marL="176530" indent="-121285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Source-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video</a:t>
            </a:r>
            <a:r>
              <a:rPr sz="1000" spc="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verification</a:t>
            </a:r>
            <a:r>
              <a:rPr sz="1000" spc="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link</a:t>
            </a:r>
            <a:endParaRPr sz="1000">
              <a:latin typeface="Tahoma"/>
              <a:cs typeface="Tahoma"/>
            </a:endParaRPr>
          </a:p>
          <a:p>
            <a:pPr marL="12700" marR="5080">
              <a:lnSpc>
                <a:spcPct val="142300"/>
              </a:lnSpc>
              <a:spcBef>
                <a:spcPts val="805"/>
              </a:spcBef>
            </a:pP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Use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question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actually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30" dirty="0">
                <a:solidFill>
                  <a:srgbClr val="637280"/>
                </a:solidFill>
                <a:latin typeface="Arial"/>
                <a:cs typeface="Arial"/>
              </a:rPr>
              <a:t>answered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in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50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selected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lecture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manually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check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that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each</a:t>
            </a:r>
            <a:r>
              <a:rPr sz="700" spc="50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cited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segment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supports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response.</a:t>
            </a:r>
            <a:endParaRPr sz="7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10" dirty="0"/>
              <a:t>12</a:t>
            </a:fld>
            <a:r>
              <a:rPr spc="-1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YouTube</a:t>
            </a:r>
            <a:r>
              <a:rPr spc="-55" dirty="0"/>
              <a:t> </a:t>
            </a:r>
            <a:r>
              <a:rPr spc="-35" dirty="0"/>
              <a:t>support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50" dirty="0"/>
              <a:t> </a:t>
            </a:r>
            <a:r>
              <a:rPr spc="-30" dirty="0"/>
              <a:t>abstention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747349"/>
            <a:ext cx="1163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20" dirty="0">
                <a:solidFill>
                  <a:srgbClr val="263746"/>
                </a:solidFill>
                <a:latin typeface="Arial Black"/>
                <a:cs typeface="Arial Black"/>
              </a:rPr>
              <a:t>YouTube</a:t>
            </a:r>
            <a:r>
              <a:rPr sz="1000" spc="6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10" dirty="0">
                <a:solidFill>
                  <a:srgbClr val="263746"/>
                </a:solidFill>
                <a:latin typeface="Arial Black"/>
                <a:cs typeface="Arial Black"/>
              </a:rPr>
              <a:t>extraction</a:t>
            </a:r>
            <a:endParaRPr sz="10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17672" y="747349"/>
            <a:ext cx="11969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14" dirty="0">
                <a:solidFill>
                  <a:srgbClr val="263746"/>
                </a:solidFill>
                <a:latin typeface="Arial Black"/>
                <a:cs typeface="Arial Black"/>
              </a:rPr>
              <a:t>Insufficient</a:t>
            </a:r>
            <a:r>
              <a:rPr sz="1000" spc="10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25" dirty="0">
                <a:solidFill>
                  <a:srgbClr val="263746"/>
                </a:solidFill>
                <a:latin typeface="Arial Black"/>
                <a:cs typeface="Arial Black"/>
              </a:rPr>
              <a:t>evidence</a:t>
            </a:r>
            <a:endParaRPr sz="1000">
              <a:latin typeface="Arial Black"/>
              <a:cs typeface="Arial Black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83" y="935214"/>
            <a:ext cx="2469474" cy="137250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30461" y="935208"/>
            <a:ext cx="2469474" cy="135705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94207" y="2312730"/>
            <a:ext cx="1800860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5595" marR="5080" indent="-303530">
              <a:lnSpc>
                <a:spcPct val="142300"/>
              </a:lnSpc>
              <a:spcBef>
                <a:spcPts val="100"/>
              </a:spcBef>
            </a:pP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Extraction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depends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on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video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accessibility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50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network/platform</a:t>
            </a:r>
            <a:r>
              <a:rPr sz="700" spc="19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restrictions.</a:t>
            </a:r>
            <a:endParaRPr sz="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56140" y="2297287"/>
            <a:ext cx="2217420" cy="329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408940">
              <a:lnSpc>
                <a:spcPct val="142300"/>
              </a:lnSpc>
              <a:spcBef>
                <a:spcPts val="100"/>
              </a:spcBef>
            </a:pP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If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evidence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is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weak,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the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application</a:t>
            </a:r>
            <a:r>
              <a:rPr sz="700" spc="3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should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say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it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cannot</a:t>
            </a:r>
            <a:r>
              <a:rPr sz="700" spc="50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5" dirty="0">
                <a:solidFill>
                  <a:srgbClr val="637280"/>
                </a:solidFill>
                <a:latin typeface="Arial"/>
                <a:cs typeface="Arial"/>
              </a:rPr>
              <a:t>answer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reliably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instead</a:t>
            </a:r>
            <a:r>
              <a:rPr sz="700" spc="1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of</a:t>
            </a:r>
            <a:r>
              <a:rPr sz="700" spc="2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guessing.</a:t>
            </a:r>
            <a:endParaRPr sz="7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10" dirty="0"/>
              <a:t>13</a:t>
            </a:fld>
            <a:r>
              <a:rPr spc="-1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77442"/>
            <a:ext cx="1175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Evaluation</a:t>
            </a:r>
            <a:r>
              <a:rPr spc="-30" dirty="0"/>
              <a:t> </a:t>
            </a:r>
            <a:r>
              <a:rPr spc="-35" dirty="0"/>
              <a:t>plan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pc="-145" dirty="0"/>
              <a:t>How</a:t>
            </a:r>
            <a:r>
              <a:rPr spc="40" dirty="0"/>
              <a:t> </a:t>
            </a:r>
            <a:r>
              <a:rPr spc="-55" dirty="0"/>
              <a:t>to</a:t>
            </a:r>
            <a:r>
              <a:rPr spc="45" dirty="0"/>
              <a:t> </a:t>
            </a:r>
            <a:r>
              <a:rPr spc="-125" dirty="0"/>
              <a:t>evaluate</a:t>
            </a:r>
            <a:r>
              <a:rPr spc="45" dirty="0"/>
              <a:t> </a:t>
            </a:r>
            <a:r>
              <a:rPr spc="-110" dirty="0"/>
              <a:t>the</a:t>
            </a:r>
            <a:r>
              <a:rPr spc="45" dirty="0"/>
              <a:t> </a:t>
            </a:r>
            <a:r>
              <a:rPr spc="-110" dirty="0"/>
              <a:t>prototype</a:t>
            </a:r>
            <a:r>
              <a:rPr spc="40" dirty="0"/>
              <a:t> </a:t>
            </a:r>
            <a:r>
              <a:rPr spc="-10" dirty="0"/>
              <a:t>fairly</a:t>
            </a:r>
          </a:p>
          <a:p>
            <a:pPr marL="175895" indent="-160655">
              <a:lnSpc>
                <a:spcPct val="100000"/>
              </a:lnSpc>
              <a:spcBef>
                <a:spcPts val="590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25" dirty="0">
                <a:latin typeface="Tahoma"/>
                <a:cs typeface="Tahoma"/>
              </a:rPr>
              <a:t>Create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35" dirty="0">
                <a:latin typeface="Tahoma"/>
                <a:cs typeface="Tahoma"/>
              </a:rPr>
              <a:t>question</a:t>
            </a:r>
            <a:r>
              <a:rPr spc="-20" dirty="0">
                <a:latin typeface="Tahoma"/>
                <a:cs typeface="Tahoma"/>
              </a:rPr>
              <a:t> set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across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several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lecture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videos.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10" dirty="0">
                <a:latin typeface="Tahoma"/>
                <a:cs typeface="Tahoma"/>
              </a:rPr>
              <a:t>Manually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20" dirty="0">
                <a:latin typeface="Tahoma"/>
                <a:cs typeface="Tahoma"/>
              </a:rPr>
              <a:t>label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20" dirty="0">
                <a:latin typeface="Tahoma"/>
                <a:cs typeface="Tahoma"/>
              </a:rPr>
              <a:t>the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expected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answer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and </a:t>
            </a:r>
            <a:r>
              <a:rPr spc="-35" dirty="0">
                <a:latin typeface="Tahoma"/>
                <a:cs typeface="Tahoma"/>
              </a:rPr>
              <a:t>supporting</a:t>
            </a:r>
            <a:r>
              <a:rPr spc="-2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timestamps.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30" dirty="0">
                <a:latin typeface="Tahoma"/>
                <a:cs typeface="Tahoma"/>
              </a:rPr>
              <a:t>Measure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retrieval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with</a:t>
            </a:r>
            <a:r>
              <a:rPr spc="-5" dirty="0">
                <a:latin typeface="Tahoma"/>
                <a:cs typeface="Tahoma"/>
              </a:rPr>
              <a:t> </a:t>
            </a:r>
            <a:r>
              <a:rPr spc="-45" dirty="0">
                <a:latin typeface="Tahoma"/>
                <a:cs typeface="Tahoma"/>
              </a:rPr>
              <a:t>Precision@k,</a:t>
            </a:r>
            <a:r>
              <a:rPr spc="-5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Recall@k,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and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MRR</a:t>
            </a:r>
            <a:r>
              <a:rPr spc="-10" dirty="0">
                <a:latin typeface="Tahoma"/>
                <a:cs typeface="Tahoma"/>
              </a:rPr>
              <a:t> or nDCG.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35" dirty="0">
                <a:latin typeface="Tahoma"/>
                <a:cs typeface="Tahoma"/>
              </a:rPr>
              <a:t>Review</a:t>
            </a:r>
            <a:r>
              <a:rPr spc="-40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answer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support</a:t>
            </a:r>
            <a:r>
              <a:rPr spc="-35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as </a:t>
            </a:r>
            <a:r>
              <a:rPr spc="-40" dirty="0">
                <a:latin typeface="Tahoma"/>
                <a:cs typeface="Tahoma"/>
              </a:rPr>
              <a:t>supported,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partially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supported,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or</a:t>
            </a:r>
            <a:r>
              <a:rPr spc="-30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unsupported.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spc="-20" dirty="0">
                <a:latin typeface="Tahoma"/>
                <a:cs typeface="Tahoma"/>
              </a:rPr>
              <a:t>Test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questions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60" dirty="0">
                <a:latin typeface="Tahoma"/>
                <a:cs typeface="Tahoma"/>
              </a:rPr>
              <a:t>whose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65" dirty="0">
                <a:latin typeface="Tahoma"/>
                <a:cs typeface="Tahoma"/>
              </a:rPr>
              <a:t>answers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are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-35" dirty="0">
                <a:latin typeface="Tahoma"/>
                <a:cs typeface="Tahoma"/>
              </a:rPr>
              <a:t>absent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and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measure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35" dirty="0">
                <a:latin typeface="Tahoma"/>
                <a:cs typeface="Tahoma"/>
              </a:rPr>
              <a:t>abstention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10" dirty="0">
                <a:latin typeface="Tahoma"/>
                <a:cs typeface="Tahoma"/>
              </a:rPr>
              <a:t>behaviour.</a:t>
            </a:r>
          </a:p>
          <a:p>
            <a:pPr marL="175895" indent="-160655">
              <a:lnSpc>
                <a:spcPct val="100000"/>
              </a:lnSpc>
              <a:spcBef>
                <a:spcPts val="295"/>
              </a:spcBef>
              <a:buClr>
                <a:srgbClr val="3578B8"/>
              </a:buClr>
              <a:buAutoNum type="arabicPeriod"/>
              <a:tabLst>
                <a:tab pos="175895" algn="l"/>
              </a:tabLst>
            </a:pPr>
            <a:r>
              <a:rPr dirty="0">
                <a:latin typeface="Tahoma"/>
                <a:cs typeface="Tahoma"/>
              </a:rPr>
              <a:t>Audit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a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40" dirty="0">
                <a:latin typeface="Tahoma"/>
                <a:cs typeface="Tahoma"/>
              </a:rPr>
              <a:t>sample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dirty="0">
                <a:latin typeface="Tahoma"/>
                <a:cs typeface="Tahoma"/>
              </a:rPr>
              <a:t>of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50" dirty="0">
                <a:latin typeface="Tahoma"/>
                <a:cs typeface="Tahoma"/>
              </a:rPr>
              <a:t>generated</a:t>
            </a:r>
            <a:r>
              <a:rPr spc="-15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transcripts</a:t>
            </a:r>
            <a:r>
              <a:rPr spc="-20" dirty="0">
                <a:latin typeface="Tahoma"/>
                <a:cs typeface="Tahoma"/>
              </a:rPr>
              <a:t> </a:t>
            </a:r>
            <a:r>
              <a:rPr spc="-30" dirty="0">
                <a:latin typeface="Tahoma"/>
                <a:cs typeface="Tahoma"/>
              </a:rPr>
              <a:t>against</a:t>
            </a:r>
            <a:r>
              <a:rPr spc="-10" dirty="0">
                <a:latin typeface="Tahoma"/>
                <a:cs typeface="Tahoma"/>
              </a:rPr>
              <a:t> </a:t>
            </a:r>
            <a:r>
              <a:rPr spc="-55" dirty="0">
                <a:latin typeface="Tahoma"/>
                <a:cs typeface="Tahoma"/>
              </a:rPr>
              <a:t>reference</a:t>
            </a:r>
            <a:r>
              <a:rPr spc="-10" dirty="0">
                <a:latin typeface="Tahoma"/>
                <a:cs typeface="Tahoma"/>
              </a:rPr>
              <a:t> transcripts.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17830" y="2145715"/>
          <a:ext cx="5124450" cy="561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1770">
                <a:tc>
                  <a:txBody>
                    <a:bodyPr/>
                    <a:lstStyle/>
                    <a:p>
                      <a:pPr marL="41910">
                        <a:lnSpc>
                          <a:spcPts val="1400"/>
                        </a:lnSpc>
                      </a:pPr>
                      <a:r>
                        <a:rPr sz="1200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Current</a:t>
                      </a:r>
                      <a:r>
                        <a:rPr sz="1200" spc="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evidence</a:t>
                      </a:r>
                      <a:r>
                        <a:rPr sz="1200" spc="3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status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17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41910" marR="13970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4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Screenshots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4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demonstrate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interface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behaviour.</a:t>
                      </a:r>
                      <a:r>
                        <a:rPr sz="1000" spc="6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They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are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not,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by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themselves,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proof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of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accuracy or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general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research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performance.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10" dirty="0"/>
              <a:t>14</a:t>
            </a:fld>
            <a:r>
              <a:rPr spc="-1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77442"/>
            <a:ext cx="19888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Limitations</a:t>
            </a:r>
            <a:r>
              <a:rPr spc="-65" dirty="0"/>
              <a:t> </a:t>
            </a:r>
            <a:r>
              <a:rPr spc="-30" dirty="0"/>
              <a:t>and</a:t>
            </a:r>
            <a:r>
              <a:rPr spc="-65" dirty="0"/>
              <a:t> </a:t>
            </a:r>
            <a:r>
              <a:rPr spc="-25" dirty="0"/>
              <a:t>next</a:t>
            </a:r>
            <a:r>
              <a:rPr spc="-65" dirty="0"/>
              <a:t> </a:t>
            </a:r>
            <a:r>
              <a:rPr spc="-40" dirty="0"/>
              <a:t>steps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7294" y="773843"/>
            <a:ext cx="2363470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25" dirty="0">
                <a:solidFill>
                  <a:srgbClr val="263746"/>
                </a:solidFill>
                <a:latin typeface="Arial Black"/>
                <a:cs typeface="Arial Black"/>
              </a:rPr>
              <a:t>Limitations</a:t>
            </a:r>
            <a:endParaRPr sz="1000">
              <a:latin typeface="Arial Black"/>
              <a:cs typeface="Arial Black"/>
            </a:endParaRPr>
          </a:p>
          <a:p>
            <a:pPr marL="176530" marR="5080" indent="-121920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Speech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recognition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can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mishear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technical terms.</a:t>
            </a:r>
            <a:endParaRPr sz="1000">
              <a:latin typeface="Tahoma"/>
              <a:cs typeface="Tahoma"/>
            </a:endParaRPr>
          </a:p>
          <a:p>
            <a:pPr marL="176530" marR="187325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Relevant-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looking</a:t>
            </a:r>
            <a:r>
              <a:rPr sz="1000" spc="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65" dirty="0">
                <a:solidFill>
                  <a:srgbClr val="263746"/>
                </a:solidFill>
                <a:latin typeface="Tahoma"/>
                <a:cs typeface="Tahoma"/>
              </a:rPr>
              <a:t>passages</a:t>
            </a:r>
            <a:r>
              <a:rPr sz="1000" spc="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can</a:t>
            </a:r>
            <a:r>
              <a:rPr sz="1000" spc="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still</a:t>
            </a:r>
            <a:r>
              <a:rPr sz="1000" spc="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be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wrong.</a:t>
            </a:r>
            <a:endParaRPr sz="1000">
              <a:latin typeface="Tahoma"/>
              <a:cs typeface="Tahoma"/>
            </a:endParaRPr>
          </a:p>
          <a:p>
            <a:pPr marL="176530" marR="393065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Retrieval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scores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are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not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calibrated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confidence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values.</a:t>
            </a:r>
            <a:endParaRPr sz="1000">
              <a:latin typeface="Tahoma"/>
              <a:cs typeface="Tahoma"/>
            </a:endParaRPr>
          </a:p>
          <a:p>
            <a:pPr marL="176530" marR="446405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Some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YouTube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videos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cannot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be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extracted.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8117" y="773843"/>
            <a:ext cx="2371725" cy="158178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000" spc="-110" dirty="0">
                <a:solidFill>
                  <a:srgbClr val="263746"/>
                </a:solidFill>
                <a:latin typeface="Arial Black"/>
                <a:cs typeface="Arial Black"/>
              </a:rPr>
              <a:t>Next</a:t>
            </a:r>
            <a:r>
              <a:rPr sz="1000" spc="50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Arial Black"/>
                <a:cs typeface="Arial Black"/>
              </a:rPr>
              <a:t>steps</a:t>
            </a:r>
            <a:endParaRPr sz="1000">
              <a:latin typeface="Arial Black"/>
              <a:cs typeface="Arial Black"/>
            </a:endParaRPr>
          </a:p>
          <a:p>
            <a:pPr marL="176530" marR="5080" indent="-121920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Test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with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a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 documented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lecture/question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dataset.</a:t>
            </a:r>
            <a:endParaRPr sz="1000">
              <a:latin typeface="Tahoma"/>
              <a:cs typeface="Tahoma"/>
            </a:endParaRPr>
          </a:p>
          <a:p>
            <a:pPr marL="176530" marR="335915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Verify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55" dirty="0">
                <a:solidFill>
                  <a:srgbClr val="263746"/>
                </a:solidFill>
                <a:latin typeface="Tahoma"/>
                <a:cs typeface="Tahoma"/>
              </a:rPr>
              <a:t>every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65" dirty="0">
                <a:solidFill>
                  <a:srgbClr val="263746"/>
                </a:solidFill>
                <a:latin typeface="Tahoma"/>
                <a:cs typeface="Tahoma"/>
              </a:rPr>
              <a:t>answer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and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timestamp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manually.</a:t>
            </a:r>
            <a:endParaRPr sz="1000">
              <a:latin typeface="Tahoma"/>
              <a:cs typeface="Tahoma"/>
            </a:endParaRPr>
          </a:p>
          <a:p>
            <a:pPr marL="176530" marR="292735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Report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retrieval</a:t>
            </a:r>
            <a:r>
              <a:rPr sz="1000" spc="-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and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65" dirty="0">
                <a:solidFill>
                  <a:srgbClr val="263746"/>
                </a:solidFill>
                <a:latin typeface="Tahoma"/>
                <a:cs typeface="Tahoma"/>
              </a:rPr>
              <a:t>answer-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support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metrics.</a:t>
            </a:r>
            <a:endParaRPr sz="1000">
              <a:latin typeface="Tahoma"/>
              <a:cs typeface="Tahoma"/>
            </a:endParaRPr>
          </a:p>
          <a:p>
            <a:pPr marL="176530" marR="278765" indent="-121920">
              <a:lnSpc>
                <a:spcPct val="100000"/>
              </a:lnSpc>
              <a:spcBef>
                <a:spcPts val="2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Analyse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failures</a:t>
            </a:r>
            <a:r>
              <a:rPr sz="1000" spc="-1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before</a:t>
            </a:r>
            <a:r>
              <a:rPr sz="1000" spc="-2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5" dirty="0">
                <a:solidFill>
                  <a:srgbClr val="263746"/>
                </a:solidFill>
                <a:latin typeface="Tahoma"/>
                <a:cs typeface="Tahoma"/>
              </a:rPr>
              <a:t>changing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the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method.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418349"/>
            <a:ext cx="493331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Use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recordings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you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are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permitted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to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30" dirty="0">
                <a:solidFill>
                  <a:srgbClr val="637280"/>
                </a:solidFill>
                <a:latin typeface="Arial"/>
                <a:cs typeface="Arial"/>
              </a:rPr>
              <a:t>process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and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clearly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637280"/>
                </a:solidFill>
                <a:latin typeface="Arial"/>
                <a:cs typeface="Arial"/>
              </a:rPr>
              <a:t>separate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demonstration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results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dirty="0">
                <a:solidFill>
                  <a:srgbClr val="637280"/>
                </a:solidFill>
                <a:latin typeface="Arial"/>
                <a:cs typeface="Arial"/>
              </a:rPr>
              <a:t>from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30" dirty="0">
                <a:solidFill>
                  <a:srgbClr val="637280"/>
                </a:solidFill>
                <a:latin typeface="Arial"/>
                <a:cs typeface="Arial"/>
              </a:rPr>
              <a:t>measured</a:t>
            </a:r>
            <a:r>
              <a:rPr sz="700" spc="25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experimental</a:t>
            </a:r>
            <a:r>
              <a:rPr sz="700" spc="30" dirty="0">
                <a:solidFill>
                  <a:srgbClr val="637280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37280"/>
                </a:solidFill>
                <a:latin typeface="Arial"/>
                <a:cs typeface="Arial"/>
              </a:rPr>
              <a:t>findings.</a:t>
            </a:r>
            <a:endParaRPr sz="7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10" dirty="0"/>
              <a:t>15</a:t>
            </a:fld>
            <a:r>
              <a:rPr spc="-1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Conclusion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55" dirty="0"/>
              <a:t> </a:t>
            </a:r>
            <a:r>
              <a:rPr spc="-7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445871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0121">
            <a:solidFill>
              <a:srgbClr val="289B9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17830" y="662863"/>
          <a:ext cx="5124450" cy="7429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12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979">
                <a:tc>
                  <a:txBody>
                    <a:bodyPr/>
                    <a:lstStyle/>
                    <a:p>
                      <a:pPr marL="41910">
                        <a:lnSpc>
                          <a:spcPts val="1400"/>
                        </a:lnSpc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Takeaway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solidFill>
                      <a:srgbClr val="1732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970">
                <a:tc>
                  <a:txBody>
                    <a:bodyPr/>
                    <a:lstStyle/>
                    <a:p>
                      <a:pPr marL="41910" marR="2692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EvidenceQA</a:t>
                      </a:r>
                      <a:r>
                        <a:rPr sz="1000" spc="-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combines</a:t>
                      </a:r>
                      <a:r>
                        <a:rPr sz="1000" spc="-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4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pretrained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Whisper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6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speech</a:t>
                      </a:r>
                      <a:r>
                        <a:rPr sz="1000" spc="-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recognition,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timestamped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transcript </a:t>
                      </a:r>
                      <a:r>
                        <a:rPr sz="1000" spc="-6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segments,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question-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driven</a:t>
                      </a:r>
                      <a:r>
                        <a:rPr sz="1000" spc="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6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passage</a:t>
                      </a:r>
                      <a:r>
                        <a:rPr sz="1000" spc="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retrieval,</a:t>
                      </a:r>
                      <a:r>
                        <a:rPr sz="1000" spc="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threshold-</a:t>
                      </a:r>
                      <a:r>
                        <a:rPr sz="10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sz="1000" spc="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abstention.</a:t>
                      </a:r>
                      <a:r>
                        <a:rPr sz="1000" spc="1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Its</a:t>
                      </a:r>
                      <a:r>
                        <a:rPr sz="1000" spc="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focus</a:t>
                      </a:r>
                      <a:r>
                        <a:rPr sz="1000" spc="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is</a:t>
                      </a:r>
                      <a:r>
                        <a:rPr sz="1000" spc="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to </a:t>
                      </a:r>
                      <a:r>
                        <a:rPr sz="1000" spc="-5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make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3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lecture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6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answers</a:t>
                      </a:r>
                      <a:r>
                        <a:rPr sz="1000" spc="-1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5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easier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to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inspect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000" spc="-25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and</a:t>
                      </a:r>
                      <a:r>
                        <a:rPr sz="1000" spc="-10" dirty="0">
                          <a:solidFill>
                            <a:srgbClr val="263746"/>
                          </a:solidFill>
                          <a:latin typeface="Tahoma"/>
                          <a:cs typeface="Tahoma"/>
                        </a:rPr>
                        <a:t> verify.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solidFill>
                      <a:srgbClr val="F2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47294" y="1419142"/>
            <a:ext cx="5065395" cy="14300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spc="-135" dirty="0">
                <a:solidFill>
                  <a:srgbClr val="263746"/>
                </a:solidFill>
                <a:latin typeface="Arial Black"/>
                <a:cs typeface="Arial Black"/>
              </a:rPr>
              <a:t>Selected</a:t>
            </a:r>
            <a:r>
              <a:rPr sz="1000" spc="95" dirty="0">
                <a:solidFill>
                  <a:srgbClr val="263746"/>
                </a:solidFill>
                <a:latin typeface="Arial Black"/>
                <a:cs typeface="Arial Black"/>
              </a:rPr>
              <a:t> </a:t>
            </a:r>
            <a:r>
              <a:rPr sz="1000" spc="-45" dirty="0">
                <a:solidFill>
                  <a:srgbClr val="263746"/>
                </a:solidFill>
                <a:latin typeface="Arial Black"/>
                <a:cs typeface="Arial Black"/>
              </a:rPr>
              <a:t>references</a:t>
            </a:r>
            <a:endParaRPr sz="1000">
              <a:latin typeface="Arial Black"/>
              <a:cs typeface="Arial Black"/>
            </a:endParaRPr>
          </a:p>
          <a:p>
            <a:pPr marL="176530" indent="-121285">
              <a:lnSpc>
                <a:spcPct val="100000"/>
              </a:lnSpc>
              <a:spcBef>
                <a:spcPts val="590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Radford</a:t>
            </a:r>
            <a:r>
              <a:rPr sz="1000" spc="-5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et</a:t>
            </a:r>
            <a:r>
              <a:rPr sz="1000" spc="-4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al.</a:t>
            </a:r>
            <a:r>
              <a:rPr sz="1000" spc="8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(2023).</a:t>
            </a:r>
            <a:r>
              <a:rPr sz="1000" spc="8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i="1" spc="-35" dirty="0">
                <a:solidFill>
                  <a:srgbClr val="263746"/>
                </a:solidFill>
                <a:latin typeface="Arial"/>
                <a:cs typeface="Arial"/>
              </a:rPr>
              <a:t>Robust</a:t>
            </a:r>
            <a:r>
              <a:rPr sz="1000" i="1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1000" i="1" spc="-80" dirty="0">
                <a:solidFill>
                  <a:srgbClr val="263746"/>
                </a:solidFill>
                <a:latin typeface="Arial"/>
                <a:cs typeface="Arial"/>
              </a:rPr>
              <a:t>Speech</a:t>
            </a:r>
            <a:r>
              <a:rPr sz="1000" i="1" spc="10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1000" i="1" spc="-40" dirty="0">
                <a:solidFill>
                  <a:srgbClr val="263746"/>
                </a:solidFill>
                <a:latin typeface="Arial"/>
                <a:cs typeface="Arial"/>
              </a:rPr>
              <a:t>Recognition</a:t>
            </a:r>
            <a:r>
              <a:rPr sz="1000" i="1" spc="-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1000" i="1" spc="-20" dirty="0">
                <a:solidFill>
                  <a:srgbClr val="263746"/>
                </a:solidFill>
                <a:latin typeface="Arial"/>
                <a:cs typeface="Arial"/>
              </a:rPr>
              <a:t>via</a:t>
            </a:r>
            <a:r>
              <a:rPr sz="1000" i="1" spc="-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1000" i="1" spc="-65" dirty="0">
                <a:solidFill>
                  <a:srgbClr val="263746"/>
                </a:solidFill>
                <a:latin typeface="Arial"/>
                <a:cs typeface="Arial"/>
              </a:rPr>
              <a:t>Large-</a:t>
            </a:r>
            <a:r>
              <a:rPr sz="1000" i="1" spc="-60" dirty="0">
                <a:solidFill>
                  <a:srgbClr val="263746"/>
                </a:solidFill>
                <a:latin typeface="Arial"/>
                <a:cs typeface="Arial"/>
              </a:rPr>
              <a:t>Scale</a:t>
            </a:r>
            <a:r>
              <a:rPr sz="1000" i="1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1000" i="1" spc="-60" dirty="0">
                <a:solidFill>
                  <a:srgbClr val="263746"/>
                </a:solidFill>
                <a:latin typeface="Arial"/>
                <a:cs typeface="Arial"/>
              </a:rPr>
              <a:t>Weak</a:t>
            </a:r>
            <a:r>
              <a:rPr sz="1000" i="1" spc="-5" dirty="0">
                <a:solidFill>
                  <a:srgbClr val="263746"/>
                </a:solidFill>
                <a:latin typeface="Arial"/>
                <a:cs typeface="Arial"/>
              </a:rPr>
              <a:t> </a:t>
            </a:r>
            <a:r>
              <a:rPr sz="1000" i="1" spc="-45" dirty="0">
                <a:solidFill>
                  <a:srgbClr val="263746"/>
                </a:solidFill>
                <a:latin typeface="Arial"/>
                <a:cs typeface="Arial"/>
              </a:rPr>
              <a:t>Supervision</a:t>
            </a:r>
            <a:r>
              <a:rPr sz="1000" spc="-45" dirty="0">
                <a:solidFill>
                  <a:srgbClr val="263746"/>
                </a:solidFill>
                <a:latin typeface="Tahoma"/>
                <a:cs typeface="Tahoma"/>
              </a:rPr>
              <a:t>.</a:t>
            </a:r>
            <a:r>
              <a:rPr sz="1000" spc="8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ICML.</a:t>
            </a:r>
            <a:endParaRPr sz="1000">
              <a:latin typeface="Tahoma"/>
              <a:cs typeface="Tahoma"/>
            </a:endParaRPr>
          </a:p>
          <a:p>
            <a:pPr marL="176530" indent="-121285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dirty="0">
                <a:solidFill>
                  <a:srgbClr val="263746"/>
                </a:solidFill>
                <a:latin typeface="Tahoma"/>
                <a:cs typeface="Tahoma"/>
              </a:rPr>
              <a:t>SYSTRAN.</a:t>
            </a:r>
            <a:r>
              <a:rPr sz="1000" spc="14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i="1" spc="-45" dirty="0">
                <a:solidFill>
                  <a:srgbClr val="263746"/>
                </a:solidFill>
                <a:latin typeface="Arial"/>
                <a:cs typeface="Arial"/>
              </a:rPr>
              <a:t>faster-</a:t>
            </a:r>
            <a:r>
              <a:rPr sz="1000" i="1" spc="-30" dirty="0">
                <a:solidFill>
                  <a:srgbClr val="263746"/>
                </a:solidFill>
                <a:latin typeface="Arial"/>
                <a:cs typeface="Arial"/>
              </a:rPr>
              <a:t>whisper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.</a:t>
            </a:r>
            <a:r>
              <a:rPr sz="1000" spc="29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80" dirty="0">
                <a:solidFill>
                  <a:srgbClr val="263746"/>
                </a:solidFill>
                <a:latin typeface="Calibri"/>
                <a:cs typeface="Calibri"/>
                <a:hlinkClick r:id="rId2"/>
              </a:rPr>
              <a:t>https://github.com/SYSTRAN/faster-</a:t>
            </a:r>
            <a:r>
              <a:rPr sz="1000" spc="45" dirty="0">
                <a:solidFill>
                  <a:srgbClr val="263746"/>
                </a:solidFill>
                <a:latin typeface="Calibri"/>
                <a:cs typeface="Calibri"/>
                <a:hlinkClick r:id="rId2"/>
              </a:rPr>
              <a:t>whisper</a:t>
            </a:r>
            <a:endParaRPr sz="1000">
              <a:latin typeface="Calibri"/>
              <a:cs typeface="Calibri"/>
            </a:endParaRPr>
          </a:p>
          <a:p>
            <a:pPr marL="176530" indent="-121285">
              <a:lnSpc>
                <a:spcPct val="100000"/>
              </a:lnSpc>
              <a:spcBef>
                <a:spcPts val="295"/>
              </a:spcBef>
              <a:buClr>
                <a:srgbClr val="289B91"/>
              </a:buClr>
              <a:buSzPct val="90000"/>
              <a:buFont typeface="Arial"/>
              <a:buChar char="•"/>
              <a:tabLst>
                <a:tab pos="176530" algn="l"/>
              </a:tabLst>
            </a:pP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Streamlit</a:t>
            </a: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 documentation.</a:t>
            </a:r>
            <a:r>
              <a:rPr sz="1000" spc="70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114" dirty="0">
                <a:solidFill>
                  <a:srgbClr val="263746"/>
                </a:solidFill>
                <a:latin typeface="Calibri"/>
                <a:cs typeface="Calibri"/>
                <a:hlinkClick r:id="rId3"/>
              </a:rPr>
              <a:t>https://docs.streamlit.io/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000">
              <a:latin typeface="Calibri"/>
              <a:cs typeface="Calibri"/>
            </a:endParaRPr>
          </a:p>
          <a:p>
            <a:pPr algn="ctr">
              <a:lnSpc>
                <a:spcPts val="1639"/>
              </a:lnSpc>
            </a:pPr>
            <a:r>
              <a:rPr sz="1400" spc="-120" dirty="0">
                <a:solidFill>
                  <a:srgbClr val="3578B8"/>
                </a:solidFill>
                <a:latin typeface="Arial Black"/>
                <a:cs typeface="Arial Black"/>
              </a:rPr>
              <a:t>Thank</a:t>
            </a:r>
            <a:r>
              <a:rPr sz="1400" spc="15" dirty="0">
                <a:solidFill>
                  <a:srgbClr val="3578B8"/>
                </a:solidFill>
                <a:latin typeface="Arial Black"/>
                <a:cs typeface="Arial Black"/>
              </a:rPr>
              <a:t> </a:t>
            </a:r>
            <a:r>
              <a:rPr sz="1400" spc="-20" dirty="0">
                <a:solidFill>
                  <a:srgbClr val="3578B8"/>
                </a:solidFill>
                <a:latin typeface="Arial Black"/>
                <a:cs typeface="Arial Black"/>
              </a:rPr>
              <a:t>you!</a:t>
            </a:r>
            <a:endParaRPr sz="1400">
              <a:latin typeface="Arial Black"/>
              <a:cs typeface="Arial Black"/>
            </a:endParaRPr>
          </a:p>
          <a:p>
            <a:pPr algn="ctr">
              <a:lnSpc>
                <a:spcPts val="1160"/>
              </a:lnSpc>
            </a:pPr>
            <a:r>
              <a:rPr sz="1000" spc="-30" dirty="0">
                <a:solidFill>
                  <a:srgbClr val="263746"/>
                </a:solidFill>
                <a:latin typeface="Tahoma"/>
                <a:cs typeface="Tahoma"/>
              </a:rPr>
              <a:t>Questions and</a:t>
            </a:r>
            <a:r>
              <a:rPr sz="1000" spc="-25" dirty="0">
                <a:solidFill>
                  <a:srgbClr val="263746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263746"/>
                </a:solidFill>
                <a:latin typeface="Tahoma"/>
                <a:cs typeface="Tahoma"/>
              </a:rPr>
              <a:t>discussion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pc="-10" dirty="0"/>
              <a:t>EvidenceQA</a:t>
            </a:r>
            <a:r>
              <a:rPr spc="35" dirty="0"/>
              <a:t> </a:t>
            </a:r>
            <a:r>
              <a:rPr dirty="0"/>
              <a:t>|</a:t>
            </a:r>
            <a:r>
              <a:rPr spc="35" dirty="0"/>
              <a:t> </a:t>
            </a:r>
            <a:r>
              <a:rPr dirty="0"/>
              <a:t>MDI3003</a:t>
            </a:r>
            <a:r>
              <a:rPr spc="35" dirty="0"/>
              <a:t> </a:t>
            </a:r>
            <a:r>
              <a:rPr dirty="0"/>
              <a:t>–</a:t>
            </a:r>
            <a:r>
              <a:rPr spc="40" dirty="0"/>
              <a:t> </a:t>
            </a:r>
            <a:r>
              <a:rPr spc="-20" dirty="0"/>
              <a:t>Advanced</a:t>
            </a:r>
            <a:r>
              <a:rPr spc="35" dirty="0"/>
              <a:t> </a:t>
            </a:r>
            <a:r>
              <a:rPr dirty="0"/>
              <a:t>Predictive</a:t>
            </a:r>
            <a:r>
              <a:rPr spc="35" dirty="0"/>
              <a:t> </a:t>
            </a:r>
            <a:r>
              <a:rPr spc="-10" dirty="0"/>
              <a:t>Analytics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spc="-10" dirty="0"/>
              <a:t>16</a:t>
            </a:fld>
            <a:r>
              <a:rPr spc="-10" dirty="0"/>
              <a:t>/16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63746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1111</Words>
  <Application>Microsoft Office PowerPoint</Application>
  <PresentationFormat>Custom</PresentationFormat>
  <Paragraphs>178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Century</vt:lpstr>
      <vt:lpstr>Dubai Medium</vt:lpstr>
      <vt:lpstr>Tahoma</vt:lpstr>
      <vt:lpstr>Office Theme</vt:lpstr>
      <vt:lpstr>Evidence QA</vt:lpstr>
      <vt:lpstr>PowerPoint Presentation</vt:lpstr>
      <vt:lpstr>Problem statement and gap</vt:lpstr>
      <vt:lpstr>Objectives</vt:lpstr>
      <vt:lpstr>System architecture</vt:lpstr>
      <vt:lpstr>Algorithms and models used</vt:lpstr>
      <vt:lpstr>Deep-learning model: Whisper</vt:lpstr>
      <vt:lpstr>How evidence-based answering works</vt:lpstr>
      <vt:lpstr>Application overview</vt:lpstr>
      <vt:lpstr>Lecture upload and video playback</vt:lpstr>
      <vt:lpstr>PowerPoint Presentation</vt:lpstr>
      <vt:lpstr>Question answering with visible evidence</vt:lpstr>
      <vt:lpstr>YouTube support and abstention</vt:lpstr>
      <vt:lpstr>Evaluation plan</vt:lpstr>
      <vt:lpstr>Limitations and next steps</vt:lpstr>
      <vt:lpstr>Conclusion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EvidenceQA - Evidence-Grounded Lecture Video Question Answering with Timestamp-Level Support</dc:title>
  <dc:creator>SRIJITH R</dc:creator>
  <cp:lastModifiedBy>SRIJITH RAMESH</cp:lastModifiedBy>
  <cp:revision>1</cp:revision>
  <dcterms:created xsi:type="dcterms:W3CDTF">2026-10-29T14:36:42Z</dcterms:created>
  <dcterms:modified xsi:type="dcterms:W3CDTF">2026-10-29T14:39:54Z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2026-10-29T00:00:00Z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2026-10-29T00:00:00Z</vt:filetime>
  </property>
  <property fmtid="{D5CDD505-2E9C-101B-9397-08002B2CF9AE}" pid="6" name="PTEX.Fullbanner">
    <vt:lpwstr>This is pdfTeX, Version 3.141592653-2.6-1.40.26 (TeX Live 2025/dev/Debian) kpathsea version 6.4.0/dev</vt:lpwstr>
  </property>
  <property fmtid="{D5CDD505-2E9C-101B-9397-08002B2CF9AE}" pid="7" name="Producer">
    <vt:lpwstr>pdfTeX-1.40.26</vt:lpwstr>
  </property>
</Properties>
</file>